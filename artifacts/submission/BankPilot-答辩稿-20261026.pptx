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c88bc21def406d" /><Relationship Type="http://schemas.openxmlformats.org/officeDocument/2006/relationships/extended-properties" Target="/docProps/app.xml" Id="Refcb2bc04fb149f9" /><Relationship Type="http://schemas.openxmlformats.org/officeDocument/2006/relationships/officeDocument" Target="/ppt/presentation.xml" Id="R64209a67b08141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0384937f224f81"/>
  </p:sldMasterIdLst>
  <p:notesMasterIdLst>
    <p:notesMasterId xmlns:r="http://schemas.openxmlformats.org/officeDocument/2006/relationships" r:id="R38e284c0e0674297"/>
  </p:notesMasterIdLst>
  <p:sldIdLst>
    <p:sldId xmlns:r="http://schemas.openxmlformats.org/officeDocument/2006/relationships" id="256" r:id="Ra62621b746dd4edb"/>
    <p:sldId xmlns:r="http://schemas.openxmlformats.org/officeDocument/2006/relationships" id="257" r:id="R0ffd7a11d9e54bb7"/>
    <p:sldId xmlns:r="http://schemas.openxmlformats.org/officeDocument/2006/relationships" id="258" r:id="R87c5a305779347a6"/>
    <p:sldId xmlns:r="http://schemas.openxmlformats.org/officeDocument/2006/relationships" id="259" r:id="R899da92a8b0c47bb"/>
    <p:sldId xmlns:r="http://schemas.openxmlformats.org/officeDocument/2006/relationships" id="260" r:id="R206712a8d63f4a11"/>
    <p:sldId xmlns:r="http://schemas.openxmlformats.org/officeDocument/2006/relationships" id="261" r:id="R1d3cf8206fa34300"/>
    <p:sldId xmlns:r="http://schemas.openxmlformats.org/officeDocument/2006/relationships" id="262" r:id="R9625dd460ba14ca8"/>
    <p:sldId xmlns:r="http://schemas.openxmlformats.org/officeDocument/2006/relationships" id="263" r:id="Rc49f280f42a6463e"/>
    <p:sldId xmlns:r="http://schemas.openxmlformats.org/officeDocument/2006/relationships" id="264" r:id="R0c392b7bfbc34175"/>
    <p:sldId xmlns:r="http://schemas.openxmlformats.org/officeDocument/2006/relationships" id="265" r:id="R55363426755140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b7350d1ffc4b08" /><Relationship Type="http://schemas.openxmlformats.org/officeDocument/2006/relationships/slideMaster" Target="/ppt/slideMasters/slideMaster1.xml" Id="R1f0384937f224f81" /><Relationship Type="http://schemas.openxmlformats.org/officeDocument/2006/relationships/notesMaster" Target="/ppt/notesMasters/notesMaster1.xml" Id="R38e284c0e0674297" /><Relationship Type="http://schemas.openxmlformats.org/officeDocument/2006/relationships/presProps" Target="/ppt/presProps.xml" Id="R65aefe6b5048451b" /><Relationship Type="http://schemas.openxmlformats.org/officeDocument/2006/relationships/tableStyles" Target="/ppt/tableStyles.xml" Id="Rfda393c87ea64b2a" /><Relationship Type="http://schemas.openxmlformats.org/officeDocument/2006/relationships/slide" Target="/ppt/slides/slide1.xml" Id="Ra62621b746dd4edb" /><Relationship Type="http://schemas.openxmlformats.org/officeDocument/2006/relationships/slide" Target="/ppt/slides/slide2.xml" Id="R0ffd7a11d9e54bb7" /><Relationship Type="http://schemas.openxmlformats.org/officeDocument/2006/relationships/slide" Target="/ppt/slides/slide3.xml" Id="R87c5a305779347a6" /><Relationship Type="http://schemas.openxmlformats.org/officeDocument/2006/relationships/slide" Target="/ppt/slides/slide4.xml" Id="R899da92a8b0c47bb" /><Relationship Type="http://schemas.openxmlformats.org/officeDocument/2006/relationships/slide" Target="/ppt/slides/slide5.xml" Id="R206712a8d63f4a11" /><Relationship Type="http://schemas.openxmlformats.org/officeDocument/2006/relationships/slide" Target="/ppt/slides/slide6.xml" Id="R1d3cf8206fa34300" /><Relationship Type="http://schemas.openxmlformats.org/officeDocument/2006/relationships/slide" Target="/ppt/slides/slide7.xml" Id="R9625dd460ba14ca8" /><Relationship Type="http://schemas.openxmlformats.org/officeDocument/2006/relationships/slide" Target="/ppt/slides/slide8.xml" Id="Rc49f280f42a6463e" /><Relationship Type="http://schemas.openxmlformats.org/officeDocument/2006/relationships/slide" Target="/ppt/slides/slide9.xml" Id="R0c392b7bfbc34175" /><Relationship Type="http://schemas.openxmlformats.org/officeDocument/2006/relationships/slide" Target="/ppt/slides/slide10.xml" Id="R55363426755140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ba5f6ed0984a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6ab2d3152740e0" /><Relationship Type="http://schemas.openxmlformats.org/officeDocument/2006/relationships/notesMaster" Target="/ppt/notesMasters/notesMaster1.xml" Id="R492b26858c764c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eb4b2d798c4187" /><Relationship Type="http://schemas.openxmlformats.org/officeDocument/2006/relationships/notesMaster" Target="/ppt/notesMasters/notesMaster1.xml" Id="R0d92596751d245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f011609b114000" /><Relationship Type="http://schemas.openxmlformats.org/officeDocument/2006/relationships/notesMaster" Target="/ppt/notesMasters/notesMaster1.xml" Id="R002a4a79410348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1b98949681430f" /><Relationship Type="http://schemas.openxmlformats.org/officeDocument/2006/relationships/notesMaster" Target="/ppt/notesMasters/notesMaster1.xml" Id="R2f94cd64127244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8c788df8ab45db" /><Relationship Type="http://schemas.openxmlformats.org/officeDocument/2006/relationships/notesMaster" Target="/ppt/notesMasters/notesMaster1.xml" Id="R6b039074a69f4f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5e4721e32d4f75" /><Relationship Type="http://schemas.openxmlformats.org/officeDocument/2006/relationships/notesMaster" Target="/ppt/notesMasters/notesMaster1.xml" Id="R4f0a34e21d2842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383b9ffb654b73" /><Relationship Type="http://schemas.openxmlformats.org/officeDocument/2006/relationships/notesMaster" Target="/ppt/notesMasters/notesMaster1.xml" Id="R1aac4ec83bc94f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dab9a901054bdb" /><Relationship Type="http://schemas.openxmlformats.org/officeDocument/2006/relationships/notesMaster" Target="/ppt/notesMasters/notesMaster1.xml" Id="R92fd6380f0004b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421ca1297d4b26" /><Relationship Type="http://schemas.openxmlformats.org/officeDocument/2006/relationships/notesMaster" Target="/ppt/notesMasters/notesMaster1.xml" Id="R922455abc1b947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684450b9b6f44b9" /><Relationship Type="http://schemas.openxmlformats.org/officeDocument/2006/relationships/notesMaster" Target="/ppt/notesMasters/notesMaster1.xml" Id="R21bc9f4baf1549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目标讲述时间：0分30秒。全稿计划8分50秒，须现场计时演练。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nkPilot把自然语言银行事务拆成可核对的计划，再由用户逐笔确认。我们希望用户能看清金额、收款人、到账条件和结果。接下来介绍六领域协作、资金与授权算法，以及当前候选两条资金流程的实测。所有账户和业务都是本地合成沙箱。新密钥下固定八例真实模型回归通过；已知测试、资金脚本验证与端到端验收分别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依据与核查边界：</a:t>
            </a:r>
          </a:p>
          <a:p xmlns:a="http://schemas.openxmlformats.org/drawingml/2006/main">
            <a:r>
              <a:t>artifacts/submission/overview.md；technical-design.md；2026-10-26-g9v-model-live.log。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目标讲述时间：0分50秒。全稿计划8分50秒，须现场计时演练。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个看似简单的请求，其实包含多项约束。第一，赎回是独立动作，有自己的状态和回执。第二，预计到账不能直接作为当前现金。第三，即使赎回到账，后面的300.25元付款也需要用户再次确认。如果提供方提交后超时，系统必须保留原请求去查单。我们把这些条件放到可见的提案、动作版本和回执中，避免用户只得到一句自然语言的“办理完成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依据与核查边界：</a:t>
            </a:r>
          </a:p>
          <a:p xmlns:a="http://schemas.openxmlformats.org/drawingml/2006/main">
            <a:r>
              <a:t>technical-design.md 第3节；G9V scripted r2场景A、B。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目标讲述时间：0分50秒。全稿计划8分50秒，须现场计时演练。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适合理解表达，但资金许可必须由服务端控制。语义解析抽取实体、金额、日期等槽位，确定性校验器将它们和原文、已知资源核对。总控仅激活相关领域，领域节点返回自己的结构化提案。独立Reviewer再检查结构与证据。它的批准仅表示提案可以继续进入待确认，并不创建付款许可。最终的用户归属、金额、版本、余额和授权证明，仍由Core再次校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依据与核查边界：</a:t>
            </a:r>
          </a:p>
          <a:p xmlns:a="http://schemas.openxmlformats.org/drawingml/2006/main">
            <a:r>
              <a:t>packages/agents/src/index.ts；packages/agents/src/semantic-intent.ts；technical-design.md 第2、3节。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目标讲述时间：1分0秒。全稿计划8分50秒，须现场计时演练。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前端由React工作台呈现请求和状态，Hono API使用Better Auth会话确定当前用户。LangGraph总控先解析意图，再按需并行激活转账、账单、理财、卡片、订阅和生活目标节点。提案通过独立复核后持久化，Core按当前动作校验授权与资金。PostgreSQL保存占额、审计和Outbox，Worker将稳定请求身份发送给本地合成适配器。Passkey是独立的权限路径。图中六个领域说明实现范围，不能据此推断六领域云模型质量均已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依据与核查边界：</a:t>
            </a:r>
          </a:p>
          <a:p xmlns:a="http://schemas.openxmlformats.org/drawingml/2006/main">
            <a:r>
              <a:t>technical-design.md 架构；packages/agents/src/index.ts；apps/api/src/main.ts。图中节点和连接线为原生可编辑PPT对象。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目标讲述时间：1分0秒。全稿计划8分50秒，须现场计时演练。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金额统一用整数分，数据库使用bigint。资金预演从当前余额中减去已授权和未知占额，保护最低余额，以及未来30天到期或逾期的义务。未来收入、尚未到账的赎回都不会增加当前可用现金。当前源码以上海业务日累计成功和已授权在途金额，含本次金额进行分档。累计不超过100000分为黄档显式确认，超过需要Passkey强验证。这个1000元阈值属于内部实现策略，尚未和正式赛事题面的金额标准逐项映射。授权时和派发前都重算，关键字段变更会令旧动作哈希失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依据与核查边界：</a:t>
            </a:r>
          </a:p>
          <a:p xmlns:a="http://schemas.openxmlformats.org/drawingml/2006/main">
            <a:r>
              <a:t>packages/core/src/index.ts tierFor/authorize/execute；packages/core/src/finance.ts；security-self-assessment.md。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目标讲述时间：1分10秒。全稿计划8分50秒，须现场计时演练。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页是当前候选真实浏览器截图，验证环境使用本地真实API、Worker和PostgreSQL，但Planner为scripted，WebAuthn使用虚拟测试器。截图处在1000元T+0赎回已经到账的阶段。测试同时核对数据库事实，确认此时没有付款动作和付款授权。之后才由用户明确准备并确认300.25元付款。这是产品交互和确定性执行链的本地验证，不能作为云模型解析同一句资金请求的端到端成功证据。现场演示时也应保持同样的模式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依据与核查边界：</a:t>
            </a:r>
          </a:p>
          <a:p xmlns:a="http://schemas.openxmlformats.org/drawingml/2006/main">
            <a:r>
              <a:t>docs/evidence/g9v-funds-r2/artifacts/g9v-funds-A-real-Monday-T0-79302-ly-confirmed-300-25-payment/a-settled-no-payment-or-payment-authorization.png；2026-10-26-g9v-funds-r2.log；technical-design.md 第5节。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目标讲述时间：1分10秒。全稿计划8分50秒，须现场计时演练。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A在真实周一验证T+0到账，初始现金为8000元。1000元合成赎回完成后，现金增加到9000元。系统随后准备新的300.25元付款，用户再次确认，最终余额是8699.75元。浏览器刷新并重新登录后，仍展示同一份原回执，付款没有重新执行。源码内部授权和账本状态由数据库事实核对。首轮验收工具曾错误读取不存在的占额物理列，在交易发生前失败，改为SQL聚合后r2两项通过，首轮记录保留。因此我们称它为修正工具后的r2验证，而非首次即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依据与核查边界：</a:t>
            </a:r>
          </a:p>
          <a:p xmlns:a="http://schemas.openxmlformats.org/drawingml/2006/main">
            <a:r>
              <a:t>docs/evidence/g9v-funds-r2/artifacts/g9v-funds-A-real-Monday-T0-79302-ly-confirmed-300-25-payment/a-completed-original-receipts-after-relogin.png；2026-10-26-g9v-funds-db-final.json；2026-10-26-g9v-funds-first.log；2026-10-26-g9v-funds-r2.log。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目标讲述时间：0分50秒。全稿计划8分50秒，须现场计时演练。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B设置600元付款在提供方提交后超时。API和数据库断言确认动作进入UNKNOWN并保留600元占额。此时用户刷新，再手动查询原请求，系统恢复同一笔付款回执，余额变为8099.75元。本页截图是恢复后的完成状态，不作为界面显示过UNKNOWN的证明。最终两个付款总共只有两笔提供方交易和四条借贷分录，查单没有增加新的授权证明。未知结果不能直接解释为失败，也不能释放占额后重新付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依据与核查边界：</a:t>
            </a:r>
          </a:p>
          <a:p xmlns:a="http://schemas.openxmlformats.org/drawingml/2006/main">
            <a:r>
              <a:t>2026-10-26-g9v-funds-db-final.json；.local/g9v-funds.spec.ts（UNKNOWN及占额断言）；docs/evidence/g9v-funds-r2/artifacts/g9v-funds-B-actual-UNKNOWN-0633b-ers-the-same-single-payment/b-original-payment-receipt-after-refresh.png。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目标讲述时间：0分50秒。全稿计划8分50秒，须现场计时演练。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当前API按会话Actor读取资源，动作哈希绑定版本和金额，Passkey验证挑战、Origin、RP ID和用户验证要求，未知结果走原单对账。本地浏览器资金验证使用虚拟WebAuthn和合成提供方，不代表实体认证器或真实银行。用户提供新密钥后，G9W固定八例已知回归全部通过，共二十次请求，无重试。它包含六领域各一正向与否定、歧义两例，但不是未见样本，也没有执行云模型生成计划之后的资金交易。G9V较早的八次403记录独立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依据与核查边界：</a:t>
            </a:r>
          </a:p>
          <a:p xmlns:a="http://schemas.openxmlformats.org/drawingml/2006/main">
            <a:r>
              <a:t>security-self-assessment.md；docs/g9w-provider-revalidation.md；G9W fixed representative final.json。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目标讲述时间：0分40秒。全稿计划8分50秒，须现场计时演练。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有三类独立证据。资金流程在scripted与虚拟WebAuthn条件下两项通过；更换用户提供的密钥后，固定八例真实模型回归八项通过；独立源码副本一百三十四个测试文件中的三千四百二十项测试通过，类型检查与构建也通过。接下来需补云模型生成资金计划的完整执行链、独立未见样本、接收方复现。公开仓库为1hb6s7t的BankPilot，提交前核对可访问性与源码版本。十一月二日前完成材料核对与实际讲述计时，再记录门户提交回执。当前仍为候选答辩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依据与核查边界：</a:t>
            </a:r>
          </a:p>
          <a:p xmlns:a="http://schemas.openxmlformats.org/drawingml/2006/main">
            <a:r>
              <a:t>slides-outline.md；docs/g9w-provider-revalidation.md；2026-10-26-g9v-source-test-verification.json；2026-10-26-g9v-funds-r2.log。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d72970a6084bb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3d2c43d8da4de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de8616af6d4be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53028b7a5340b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6921aa12384fc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2aa4c9dd9645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6C769B-6B5B-4ACB-80B2-7C11BD3F35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6272ACD-AB6D-4D0E-8CFE-BDF763632B7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7255794-F92C-422D-8556-C2C2CDC26C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E5A4DF-6CCA-49BF-A680-B3A8651B7C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B35B298-8C95-4CF8-8AB7-F0BCE388A3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5C524F-53CA-4535-8EA7-7E135DF9C8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D634D48-600A-4F0F-8B85-504D3FD920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8B8281E-18C6-4444-AE2F-029D588378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2E1D84-FAFE-4328-BB08-F2A0EB3F27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DEAF934-4433-44B1-9DFF-6ECECF0BB0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53e1c23bbc4201" /><Relationship Type="http://schemas.openxmlformats.org/officeDocument/2006/relationships/slideLayout" Target="/ppt/slideLayouts/slideLayout1.xml" Id="R9335b3ab0c564517" /><Relationship Type="http://schemas.openxmlformats.org/officeDocument/2006/relationships/slideLayout" Target="/ppt/slideLayouts/slideLayout2.xml" Id="Raa78faec8b2443bb" /><Relationship Type="http://schemas.openxmlformats.org/officeDocument/2006/relationships/slideLayout" Target="/ppt/slideLayouts/slideLayout3.xml" Id="Rb35224d6c9404a93" /><Relationship Type="http://schemas.openxmlformats.org/officeDocument/2006/relationships/slideLayout" Target="/ppt/slideLayouts/slideLayout4.xml" Id="R8eda575460f143dc" /><Relationship Type="http://schemas.openxmlformats.org/officeDocument/2006/relationships/slideLayout" Target="/ppt/slideLayouts/slideLayout5.xml" Id="R612ec3b790124ca4" /><Relationship Type="http://schemas.openxmlformats.org/officeDocument/2006/relationships/slideLayout" Target="/ppt/slideLayouts/slideLayout6.xml" Id="R385fc2501cc94c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35b3ab0c564517"/>
    <p:sldLayoutId xmlns:r="http://schemas.openxmlformats.org/officeDocument/2006/relationships" id="2147483650" r:id="Raa78faec8b2443bb"/>
    <p:sldLayoutId xmlns:r="http://schemas.openxmlformats.org/officeDocument/2006/relationships" id="2147483651" r:id="Rb35224d6c9404a93"/>
    <p:sldLayoutId xmlns:r="http://schemas.openxmlformats.org/officeDocument/2006/relationships" id="2147483652" r:id="R8eda575460f143dc"/>
    <p:sldLayoutId xmlns:r="http://schemas.openxmlformats.org/officeDocument/2006/relationships" id="2147483653" r:id="R612ec3b790124ca4"/>
    <p:sldLayoutId xmlns:r="http://schemas.openxmlformats.org/officeDocument/2006/relationships" id="2147483654" r:id="R385fc2501cc94c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1ec1e91d704165" /><Relationship Type="http://schemas.openxmlformats.org/officeDocument/2006/relationships/notesSlide" Target="/ppt/notesSlides/notesSlide1.xml" Id="R42c9f0315fd645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dc0caf19ec4ba9" /><Relationship Type="http://schemas.openxmlformats.org/officeDocument/2006/relationships/notesSlide" Target="/ppt/notesSlides/notesSlide2.xml" Id="R37ff0248c9b24d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663fb676a040dd" /><Relationship Type="http://schemas.openxmlformats.org/officeDocument/2006/relationships/notesSlide" Target="/ppt/notesSlides/notesSlide3.xml" Id="R2e69bf3342ab42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d652faf6e848f6" /><Relationship Type="http://schemas.openxmlformats.org/officeDocument/2006/relationships/notesSlide" Target="/ppt/notesSlides/notesSlide4.xml" Id="R6d1435805d094e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219f0c807f4c0b" /><Relationship Type="http://schemas.openxmlformats.org/officeDocument/2006/relationships/notesSlide" Target="/ppt/notesSlides/notesSlide5.xml" Id="Rfb5bf44bdf6046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8bf2a593a74fca" /><Relationship Type="http://schemas.openxmlformats.org/officeDocument/2006/relationships/image" Target="/ppt/media/image.png" Id="Rb37396807dc24ea0" /><Relationship Type="http://schemas.openxmlformats.org/officeDocument/2006/relationships/notesSlide" Target="/ppt/notesSlides/notesSlide6.xml" Id="R235070e3278f4b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12381e85994e63" /><Relationship Type="http://schemas.openxmlformats.org/officeDocument/2006/relationships/image" Target="/ppt/media/image2.png" Id="Re576f4b8a54c477f" /><Relationship Type="http://schemas.openxmlformats.org/officeDocument/2006/relationships/notesSlide" Target="/ppt/notesSlides/notesSlide7.xml" Id="Rf0dd5d226b364c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30ca2bcde142ab" /><Relationship Type="http://schemas.openxmlformats.org/officeDocument/2006/relationships/image" Target="/ppt/media/image3.png" Id="R460d6871cd414712" /><Relationship Type="http://schemas.openxmlformats.org/officeDocument/2006/relationships/notesSlide" Target="/ppt/notesSlides/notesSlide8.xml" Id="Rd3459a407c3445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746a35cc764801" /><Relationship Type="http://schemas.openxmlformats.org/officeDocument/2006/relationships/notesSlide" Target="/ppt/notesSlides/notesSlide9.xml" Id="R7db90af118bd44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d2dcab10df4b35" /><Relationship Type="http://schemas.openxmlformats.org/officeDocument/2006/relationships/notesSlide" Target="/ppt/notesSlides/notesSlide10.xml" Id="Redf9c8fa20ab43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ankPilot">
            <a:extLst xmlns:a="http://schemas.openxmlformats.org/drawingml/2006/main">
              <a:ext uri="{FF2B5EF4-FFF2-40B4-BE49-F238E27FC236}">
                <a16:creationId xmlns:a16="http://schemas.microsoft.com/office/drawing/2014/main" id="{FF2989F8-55A9-4A9A-8B3E-F769DE2A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BankPilot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D6C778-3CF0-4BAF-8593-8C21445B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CDDE2"/>
            </a:solidFill>
          </a:ln>
        </p:spPr>
      </p:sp>
      <p:sp>
        <p:nvSpPr>
          <p:cNvPr id="3" name="本地合成沙箱 · 候选答辩稿 · 2026.10.26">
            <a:extLst xmlns:a="http://schemas.openxmlformats.org/drawingml/2006/main">
              <a:ext uri="{FF2B5EF4-FFF2-40B4-BE49-F238E27FC236}">
                <a16:creationId xmlns:a16="http://schemas.microsoft.com/office/drawing/2014/main" id="{F73A4B26-0C08-41B5-BA94-E77C0FB7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rPr>
              <a:t>本地合成沙箱 · 候选答辩稿 · 2026.10.26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7CF0C5E3-B404-4E4E-967F-A303872A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62700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5" name="让银行事务 Agent&#10;可确认、可追踪">
            <a:extLst xmlns:a="http://schemas.openxmlformats.org/drawingml/2006/main">
              <a:ext uri="{FF2B5EF4-FFF2-40B4-BE49-F238E27FC236}">
                <a16:creationId xmlns:a16="http://schemas.microsoft.com/office/drawing/2014/main" id="{53EE9419-5F9D-4CF9-B0AE-94CE4BDE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43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43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43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43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43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43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43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43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43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43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3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让银行事务 Agent</a:t>
            </a:r>
          </a:p>
          <a:p xmlns:a="http://schemas.openxmlformats.org/drawingml/2006/main">
            <a:pPr>
              <a:defRPr sz="43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3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可确认、可追踪</a:t>
            </a:r>
          </a:p>
        </p:txBody>
      </p:sp>
      <p:sp>
        <p:nvSpPr>
          <p:cNvPr id="6" name="自然语言提出需求，逐笔确认动作，保留原始回执">
            <a:extLst xmlns:a="http://schemas.openxmlformats.org/drawingml/2006/main">
              <a:ext uri="{FF2B5EF4-FFF2-40B4-BE49-F238E27FC236}">
                <a16:creationId xmlns:a16="http://schemas.microsoft.com/office/drawing/2014/main" id="{359B5FC2-D92C-4A5F-B7E4-C7423021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909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250" b="0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250" b="0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250" b="0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250" b="0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250" b="0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250" b="0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250" b="0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250" b="0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250" b="0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rPr>
              <a:t>自然语言提出需求，逐笔确认动作，保留原始回执</a:t>
            </a:r>
          </a:p>
        </p:txBody>
      </p:sp>
      <p:sp>
        <p:nvSpPr>
          <p:cNvPr id="7" name="本地合成银行沙箱">
            <a:extLst xmlns:a="http://schemas.openxmlformats.org/drawingml/2006/main">
              <a:ext uri="{FF2B5EF4-FFF2-40B4-BE49-F238E27FC236}">
                <a16:creationId xmlns:a16="http://schemas.microsoft.com/office/drawing/2014/main" id="{23C869F6-6845-44C9-8C51-7BE03C61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672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0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0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0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0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0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0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0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0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0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rPr>
              <a:t>本地合成银行沙箱</a:t>
            </a:r>
          </a:p>
        </p:txBody>
      </p:sp>
      <p:sp>
        <p:nvSpPr>
          <p:cNvPr id="8" name="8分50秒答辩计划 · 固定八例真实模型回归通过">
            <a:extLst xmlns:a="http://schemas.openxmlformats.org/drawingml/2006/main">
              <a:ext uri="{FF2B5EF4-FFF2-40B4-BE49-F238E27FC236}">
                <a16:creationId xmlns:a16="http://schemas.microsoft.com/office/drawing/2014/main" id="{24DDA4BD-6785-4707-9CC2-40976631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530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rPr>
              <a:t>8分50秒答辩计划 · 固定八例真实模型回归通过</a:t>
            </a:r>
          </a:p>
        </p:txBody>
      </p:sp>
    </p:spTree>
    <p:extLst>
      <p:ext uri="{BB962C8B-B14F-4D97-AF65-F5344CB8AC3E}">
        <p14:creationId xmlns:p14="http://schemas.microsoft.com/office/powerpoint/2010/main" val="20485310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5BE5D8-AF40-4817-9C4F-93A549D7EFA3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05850" y="37719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6685"/>
            </a:solidFill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989E59-A586-490F-BDC9-C6095A806896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848350" y="37719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6685"/>
            </a:solidFill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37099A-A646-433B-A6D1-7BA832294F08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90850" y="37719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6685"/>
            </a:solidFill>
            <a:tailEnd type="triangle" w="sm" len="sm"/>
          </a:ln>
        </p:spPr>
      </p:cxnSp>
      <p:sp>
        <p:nvSpPr>
          <p:cNvPr id="19" name="用户需要核对整条资金路径">
            <a:extLst xmlns:a="http://schemas.openxmlformats.org/drawingml/2006/main">
              <a:ext uri="{FF2B5EF4-FFF2-40B4-BE49-F238E27FC236}">
                <a16:creationId xmlns:a16="http://schemas.microsoft.com/office/drawing/2014/main" id="{631AAD91-B585-44D8-BF59-7C9ED04F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用户需要核对整条资金路径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778C5-D78C-4E06-9E93-73BB70BE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CDDE2"/>
            </a:solidFill>
          </a:ln>
        </p:spPr>
      </p:sp>
      <p:sp>
        <p:nvSpPr>
          <p:cNvPr id="3" name="本地合成沙箱 · 候选答辩稿 · 2026.10.26">
            <a:extLst xmlns:a="http://schemas.openxmlformats.org/drawingml/2006/main">
              <a:ext uri="{FF2B5EF4-FFF2-40B4-BE49-F238E27FC236}">
                <a16:creationId xmlns:a16="http://schemas.microsoft.com/office/drawing/2014/main" id="{41597637-CBA9-46DF-A70C-FAD90F77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rPr>
              <a:t>本地合成沙箱 · 候选答辩稿 · 2026.10.26</a:t>
            </a:r>
          </a:p>
        </p:txBody>
      </p:sp>
      <p:sp>
        <p:nvSpPr>
          <p:cNvPr id="4" name="02">
            <a:extLst xmlns:a="http://schemas.openxmlformats.org/drawingml/2006/main">
              <a:ext uri="{FF2B5EF4-FFF2-40B4-BE49-F238E27FC236}">
                <a16:creationId xmlns:a16="http://schemas.microsoft.com/office/drawing/2014/main" id="{B7CA263D-EE8C-4960-A221-1ECB6C2F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62700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5" name="“先赎回1000元，到账后再付300.25元”">
            <a:extLst xmlns:a="http://schemas.openxmlformats.org/drawingml/2006/main">
              <a:ext uri="{FF2B5EF4-FFF2-40B4-BE49-F238E27FC236}">
                <a16:creationId xmlns:a16="http://schemas.microsoft.com/office/drawing/2014/main" id="{C2B88300-470E-4FF9-B200-D7FCC07A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8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8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8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8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8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8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8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8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8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8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rPr>
              <a:t>“先赎回1000元，到账后再付300.25元”</a:t>
            </a:r>
          </a:p>
        </p:txBody>
      </p:sp>
      <p:sp>
        <p:nvSpPr>
          <p:cNvPr id="6" name="同一句话包含资金来源、到账条件与后续独立付款">
            <a:extLst xmlns:a="http://schemas.openxmlformats.org/drawingml/2006/main">
              <a:ext uri="{FF2B5EF4-FFF2-40B4-BE49-F238E27FC236}">
                <a16:creationId xmlns:a16="http://schemas.microsoft.com/office/drawing/2014/main" id="{7D38B7E0-172B-42A9-AF7A-45D9030D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rPr>
              <a:t>同一句话包含资金来源、到账条件与后续独立付款</a:t>
            </a:r>
          </a:p>
        </p:txBody>
      </p:sp>
      <p:sp>
        <p:nvSpPr>
          <p:cNvPr id="7" name="用户请求">
            <a:extLst xmlns:a="http://schemas.openxmlformats.org/drawingml/2006/main">
              <a:ext uri="{FF2B5EF4-FFF2-40B4-BE49-F238E27FC236}">
                <a16:creationId xmlns:a16="http://schemas.microsoft.com/office/drawing/2014/main" id="{B3AF7C52-D524-44E1-9AA8-40455432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5"/>
          </a:solidFill>
          <a:ln xmlns:a="http://schemas.openxmlformats.org/drawingml/2006/main" w="9525">
            <a:solidFill>
              <a:srgbClr val="CCDDE2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用户请求</a:t>
            </a:r>
          </a:p>
        </p:txBody>
      </p:sp>
      <p:sp>
        <p:nvSpPr>
          <p:cNvPr id="8" name="结构化提案">
            <a:extLst xmlns:a="http://schemas.openxmlformats.org/drawingml/2006/main">
              <a:ext uri="{FF2B5EF4-FFF2-40B4-BE49-F238E27FC236}">
                <a16:creationId xmlns:a16="http://schemas.microsoft.com/office/drawing/2014/main" id="{28D54E16-18C2-46D7-97F4-FB83540A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3337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5"/>
          </a:solidFill>
          <a:ln xmlns:a="http://schemas.openxmlformats.org/drawingml/2006/main" w="9525">
            <a:solidFill>
              <a:srgbClr val="CCDDE2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结构化提案</a:t>
            </a:r>
          </a:p>
        </p:txBody>
      </p:sp>
      <p:sp>
        <p:nvSpPr>
          <p:cNvPr id="9" name="本人确认">
            <a:extLst xmlns:a="http://schemas.openxmlformats.org/drawingml/2006/main">
              <a:ext uri="{FF2B5EF4-FFF2-40B4-BE49-F238E27FC236}">
                <a16:creationId xmlns:a16="http://schemas.microsoft.com/office/drawing/2014/main" id="{0470FC30-CE46-4D9A-BE6F-C212ECFE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5"/>
          </a:solidFill>
          <a:ln xmlns:a="http://schemas.openxmlformats.org/drawingml/2006/main" w="9525">
            <a:solidFill>
              <a:srgbClr val="CCDDE2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本人确认</a:t>
            </a:r>
          </a:p>
        </p:txBody>
      </p:sp>
      <p:sp>
        <p:nvSpPr>
          <p:cNvPr id="10" name="执行与回执">
            <a:extLst xmlns:a="http://schemas.openxmlformats.org/drawingml/2006/main">
              <a:ext uri="{FF2B5EF4-FFF2-40B4-BE49-F238E27FC236}">
                <a16:creationId xmlns:a16="http://schemas.microsoft.com/office/drawing/2014/main" id="{1FC00D44-554F-4E21-9C41-6518FA1B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3337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5"/>
          </a:solidFill>
          <a:ln xmlns:a="http://schemas.openxmlformats.org/drawingml/2006/main" w="9525">
            <a:solidFill>
              <a:srgbClr val="CCDDE2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执行与回执</a:t>
            </a:r>
          </a:p>
        </p:txBody>
      </p:sp>
      <p:sp>
        <p:nvSpPr>
          <p:cNvPr id="14" name="核对对象与金额">
            <a:extLst xmlns:a="http://schemas.openxmlformats.org/drawingml/2006/main">
              <a:ext uri="{FF2B5EF4-FFF2-40B4-BE49-F238E27FC236}">
                <a16:creationId xmlns:a16="http://schemas.microsoft.com/office/drawing/2014/main" id="{7848E534-037F-45F6-B176-A40D2FE0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7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7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7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7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7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7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7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7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7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核对对象与金额</a:t>
            </a:r>
          </a:p>
        </p:txBody>
      </p:sp>
      <p:sp>
        <p:nvSpPr>
          <p:cNvPr id="15" name="展示版本与证据">
            <a:extLst xmlns:a="http://schemas.openxmlformats.org/drawingml/2006/main">
              <a:ext uri="{FF2B5EF4-FFF2-40B4-BE49-F238E27FC236}">
                <a16:creationId xmlns:a16="http://schemas.microsoft.com/office/drawing/2014/main" id="{AD18459E-A151-4130-AF1D-3D0C8767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386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7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7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7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7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7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7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7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7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7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展示版本与证据</a:t>
            </a:r>
          </a:p>
        </p:txBody>
      </p:sp>
      <p:sp>
        <p:nvSpPr>
          <p:cNvPr id="16" name="绑定当前动作">
            <a:extLst xmlns:a="http://schemas.openxmlformats.org/drawingml/2006/main">
              <a:ext uri="{FF2B5EF4-FFF2-40B4-BE49-F238E27FC236}">
                <a16:creationId xmlns:a16="http://schemas.microsoft.com/office/drawing/2014/main" id="{14DA6528-F9E2-4E72-A970-1AFFF5C1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386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7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7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7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7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7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7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7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7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7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绑定当前动作</a:t>
            </a:r>
          </a:p>
        </p:txBody>
      </p:sp>
      <p:sp>
        <p:nvSpPr>
          <p:cNvPr id="17" name="未知时查原单">
            <a:extLst xmlns:a="http://schemas.openxmlformats.org/drawingml/2006/main">
              <a:ext uri="{FF2B5EF4-FFF2-40B4-BE49-F238E27FC236}">
                <a16:creationId xmlns:a16="http://schemas.microsoft.com/office/drawing/2014/main" id="{82A8B6BD-2FB8-4916-9031-2A499EF8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4386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7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7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7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7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7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7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7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7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7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未知时查原单</a:t>
            </a:r>
          </a:p>
        </p:txBody>
      </p:sp>
      <p:sp>
        <p:nvSpPr>
          <p:cNvPr id="18" name="预计到账不增加当前可用余额，生成提案不扣款">
            <a:extLst xmlns:a="http://schemas.openxmlformats.org/drawingml/2006/main">
              <a:ext uri="{FF2B5EF4-FFF2-40B4-BE49-F238E27FC236}">
                <a16:creationId xmlns:a16="http://schemas.microsoft.com/office/drawing/2014/main" id="{1097120E-8080-4886-86E2-0FD88520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75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75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75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75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75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75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75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75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75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rPr>
              <a:t>预计到账不增加当前可用余额，生成提案不扣款</a:t>
            </a:r>
          </a:p>
        </p:txBody>
      </p:sp>
    </p:spTree>
    <p:extLst>
      <p:ext uri="{BB962C8B-B14F-4D97-AF65-F5344CB8AC3E}">
        <p14:creationId xmlns:p14="http://schemas.microsoft.com/office/powerpoint/2010/main" val="14973492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I规划与资金权限">
            <a:extLst xmlns:a="http://schemas.openxmlformats.org/drawingml/2006/main">
              <a:ext uri="{FF2B5EF4-FFF2-40B4-BE49-F238E27FC236}">
                <a16:creationId xmlns:a16="http://schemas.microsoft.com/office/drawing/2014/main" id="{AF6B79E4-1061-40BD-B204-3C2DABED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AI规划与资金权限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1B0ED-0DFA-481A-9368-272F3B63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CDDE2"/>
            </a:solidFill>
          </a:ln>
        </p:spPr>
      </p:sp>
      <p:sp>
        <p:nvSpPr>
          <p:cNvPr id="3" name="本地合成沙箱 · 候选答辩稿 · 2026.10.26">
            <a:extLst xmlns:a="http://schemas.openxmlformats.org/drawingml/2006/main">
              <a:ext uri="{FF2B5EF4-FFF2-40B4-BE49-F238E27FC236}">
                <a16:creationId xmlns:a16="http://schemas.microsoft.com/office/drawing/2014/main" id="{B3BD4A16-504C-40F9-9384-7531EC49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rPr>
              <a:t>本地合成沙箱 · 候选答辩稿 · 2026.10.26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E348C5BF-90A1-4FC2-99DE-6EEB6BB3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62700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5" name="AI Agent 的职责">
            <a:extLst xmlns:a="http://schemas.openxmlformats.org/drawingml/2006/main">
              <a:ext uri="{FF2B5EF4-FFF2-40B4-BE49-F238E27FC236}">
                <a16:creationId xmlns:a16="http://schemas.microsoft.com/office/drawing/2014/main" id="{6FDD1C7F-C4F9-491F-BF67-6D182EFA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rPr>
              <a:t>AI Agent 的职责</a:t>
            </a:r>
          </a:p>
        </p:txBody>
      </p:sp>
      <p:sp>
        <p:nvSpPr>
          <p:cNvPr id="6" name="识别操作与必要槽位&#10;只激活相关领域&#10;给出结构化提案与证据">
            <a:extLst xmlns:a="http://schemas.openxmlformats.org/drawingml/2006/main">
              <a:ext uri="{FF2B5EF4-FFF2-40B4-BE49-F238E27FC236}">
                <a16:creationId xmlns:a16="http://schemas.microsoft.com/office/drawing/2014/main" id="{949E2616-8592-4B57-8C53-F6525789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5048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识别操作与必要槽位</a:t>
            </a:r>
          </a:p>
          <a:p xmlns:a="http://schemas.openxmlformats.org/drawingml/2006/main">
            <a: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只激活相关领域</a:t>
            </a:r>
          </a:p>
          <a:p xmlns:a="http://schemas.openxmlformats.org/drawingml/2006/main">
            <a: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给出结构化提案与证据</a:t>
            </a:r>
          </a:p>
        </p:txBody>
      </p:sp>
      <p:sp>
        <p:nvSpPr>
          <p:cNvPr id="7" name="确定性服务的职责">
            <a:extLst xmlns:a="http://schemas.openxmlformats.org/drawingml/2006/main">
              <a:ext uri="{FF2B5EF4-FFF2-40B4-BE49-F238E27FC236}">
                <a16:creationId xmlns:a16="http://schemas.microsoft.com/office/drawing/2014/main" id="{CD6070A7-8771-4C63-86BE-7921BFAA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47825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rPr>
              <a:t>确定性服务的职责</a:t>
            </a:r>
          </a:p>
        </p:txBody>
      </p:sp>
      <p:sp>
        <p:nvSpPr>
          <p:cNvPr id="8" name="核对实体、金额与业务约束&#10;检查动作版本和授权证明&#10;控制占额、分录和最终状态">
            <a:extLst xmlns:a="http://schemas.openxmlformats.org/drawingml/2006/main">
              <a:ext uri="{FF2B5EF4-FFF2-40B4-BE49-F238E27FC236}">
                <a16:creationId xmlns:a16="http://schemas.microsoft.com/office/drawing/2014/main" id="{BD264C1D-76B9-4F44-90FD-F7B36568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81225"/>
            <a:ext cx="5048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核对实体、金额与业务约束</a:t>
            </a:r>
          </a:p>
          <a:p xmlns:a="http://schemas.openxmlformats.org/drawingml/2006/main">
            <a: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检查动作版本和授权证明</a:t>
            </a:r>
          </a:p>
          <a:p xmlns:a="http://schemas.openxmlformats.org/drawingml/2006/main">
            <a: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控制占额、分录和最终状态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DA9B59-0363-490F-A96E-B135F943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CDDE2"/>
            </a:solidFill>
          </a:ln>
        </p:spPr>
      </p:sp>
      <p:sp>
        <p:nvSpPr>
          <p:cNvPr id="10" name="独立 Reviewer 复核提案完整性与证据一致性">
            <a:extLst xmlns:a="http://schemas.openxmlformats.org/drawingml/2006/main">
              <a:ext uri="{FF2B5EF4-FFF2-40B4-BE49-F238E27FC236}">
                <a16:creationId xmlns:a16="http://schemas.microsoft.com/office/drawing/2014/main" id="{7D303500-B3FA-4E4D-BB9A-BEA78911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40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40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40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40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40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40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40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40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40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40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rPr>
              <a:t>独立 Reviewer 复核提案完整性与证据一致性</a:t>
            </a:r>
          </a:p>
        </p:txBody>
      </p:sp>
      <p:sp>
        <p:nvSpPr>
          <p:cNvPr id="11" name="Reviewer批准后，仍须进入用户确认和服务端鉴权">
            <a:extLst xmlns:a="http://schemas.openxmlformats.org/drawingml/2006/main">
              <a:ext uri="{FF2B5EF4-FFF2-40B4-BE49-F238E27FC236}">
                <a16:creationId xmlns:a16="http://schemas.microsoft.com/office/drawing/2014/main" id="{259E45FF-F2D0-4614-9925-90814213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250" b="0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250" b="0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250" b="0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250" b="0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250" b="0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250" b="0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250" b="0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250" b="0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250" b="0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rPr>
              <a:t>Reviewer批准后，仍须进入用户确认和服务端鉴权</a:t>
            </a:r>
          </a:p>
        </p:txBody>
      </p:sp>
    </p:spTree>
    <p:extLst>
      <p:ext uri="{BB962C8B-B14F-4D97-AF65-F5344CB8AC3E}">
        <p14:creationId xmlns:p14="http://schemas.microsoft.com/office/powerpoint/2010/main" val="13516487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3F3AD8-FA30-4F45-AF66-5E06C09BEE9A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086850" y="46482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6685"/>
            </a:solidFill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76F039-B5FE-406A-815D-2429D1AA76D0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6096000" y="46482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6685"/>
            </a:solidFill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C0AE2D-1896-4BC9-BC91-F4929EDDA134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2705100" y="46482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6685"/>
            </a:solidFill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46715F-0433-4602-B305-079245D15052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1657350" y="3771900"/>
            <a:ext cx="4438650" cy="533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26685"/>
            </a:solidFill>
            <a:tailEnd type="triangle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1B02DE-E53E-49DB-8225-0F30F86AF290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6096000" y="2343150"/>
            <a:ext cx="847725" cy="5905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26685"/>
            </a:solidFill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2D539C-0C55-4ED7-A5CB-C148CD5D7AB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105400" y="202882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6685"/>
            </a:solidFill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38A499-016B-4156-8E96-5354F564021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514600" y="202882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6685"/>
            </a:solidFill>
            <a:tailEnd type="triangle" w="sm" len="sm"/>
          </a:ln>
        </p:spPr>
      </p:cxnSp>
      <p:sp>
        <p:nvSpPr>
          <p:cNvPr id="30" name="总控、六领域与执行服务">
            <a:extLst xmlns:a="http://schemas.openxmlformats.org/drawingml/2006/main">
              <a:ext uri="{FF2B5EF4-FFF2-40B4-BE49-F238E27FC236}">
                <a16:creationId xmlns:a16="http://schemas.microsoft.com/office/drawing/2014/main" id="{852F1297-8FB4-43CA-AD44-51B0E083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总控、六领域与执行服务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08E725-9774-45A5-97E1-19FF19A8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CDDE2"/>
            </a:solidFill>
          </a:ln>
        </p:spPr>
      </p:sp>
      <p:sp>
        <p:nvSpPr>
          <p:cNvPr id="3" name="本地合成沙箱 · 候选答辩稿 · 2026.10.26">
            <a:extLst xmlns:a="http://schemas.openxmlformats.org/drawingml/2006/main">
              <a:ext uri="{FF2B5EF4-FFF2-40B4-BE49-F238E27FC236}">
                <a16:creationId xmlns:a16="http://schemas.microsoft.com/office/drawing/2014/main" id="{0F4B9FAA-5964-4CFE-AC60-85A8B37C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rPr>
              <a:t>本地合成沙箱 · 候选答辩稿 · 2026.10.26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A629D985-15C6-4B5C-AE61-048B05FB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62700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5" name="React 工作台">
            <a:extLst xmlns:a="http://schemas.openxmlformats.org/drawingml/2006/main">
              <a:ext uri="{FF2B5EF4-FFF2-40B4-BE49-F238E27FC236}">
                <a16:creationId xmlns:a16="http://schemas.microsoft.com/office/drawing/2014/main" id="{04B1E356-44B2-4D74-B9F3-E1BA052E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905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5"/>
          </a:solidFill>
          <a:ln xmlns:a="http://schemas.openxmlformats.org/drawingml/2006/main" w="9525">
            <a:solidFill>
              <a:srgbClr val="CCDDE2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React 工作台</a:t>
            </a:r>
          </a:p>
        </p:txBody>
      </p:sp>
      <p:sp>
        <p:nvSpPr>
          <p:cNvPr id="6" name="Hono API&#10;Better Auth">
            <a:extLst xmlns:a="http://schemas.openxmlformats.org/drawingml/2006/main">
              <a:ext uri="{FF2B5EF4-FFF2-40B4-BE49-F238E27FC236}">
                <a16:creationId xmlns:a16="http://schemas.microsoft.com/office/drawing/2014/main" id="{F3307FC3-8ED1-4CB9-819D-C3027209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71450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5"/>
          </a:solidFill>
          <a:ln xmlns:a="http://schemas.openxmlformats.org/drawingml/2006/main" w="9525">
            <a:solidFill>
              <a:srgbClr val="CCDDE2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Hono API</a:t>
            </a:r>
          </a:p>
          <a:p xmlns:a="http://schemas.openxmlformats.org/drawingml/2006/main">
            <a: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Better Auth</a:t>
            </a:r>
          </a:p>
        </p:txBody>
      </p:sp>
      <p:sp>
        <p:nvSpPr>
          <p:cNvPr id="7" name="LangGraph 总控&#10;语义解析与路由">
            <a:extLst xmlns:a="http://schemas.openxmlformats.org/drawingml/2006/main">
              <a:ext uri="{FF2B5EF4-FFF2-40B4-BE49-F238E27FC236}">
                <a16:creationId xmlns:a16="http://schemas.microsoft.com/office/drawing/2014/main" id="{FB1D18FD-BAD5-4E03-BD10-5F75489E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14500"/>
            <a:ext cx="2647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5"/>
          </a:solidFill>
          <a:ln xmlns:a="http://schemas.openxmlformats.org/drawingml/2006/main" w="9525">
            <a:solidFill>
              <a:srgbClr val="CCDDE2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LangGraph 总控</a:t>
            </a:r>
          </a:p>
          <a:p xmlns:a="http://schemas.openxmlformats.org/drawingml/2006/main">
            <a: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语义解析与路由</a:t>
            </a:r>
          </a:p>
        </p:txBody>
      </p:sp>
      <p:sp>
        <p:nvSpPr>
          <p:cNvPr id="10" name="转账">
            <a:extLst xmlns:a="http://schemas.openxmlformats.org/drawingml/2006/main">
              <a:ext uri="{FF2B5EF4-FFF2-40B4-BE49-F238E27FC236}">
                <a16:creationId xmlns:a16="http://schemas.microsoft.com/office/drawing/2014/main" id="{B9A06842-8918-4C73-8077-CD670B39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581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5"/>
          </a:solidFill>
          <a:ln xmlns:a="http://schemas.openxmlformats.org/drawingml/2006/main" w="9525">
            <a:solidFill>
              <a:srgbClr val="CCDDE2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转账</a:t>
            </a:r>
          </a:p>
        </p:txBody>
      </p:sp>
      <p:sp>
        <p:nvSpPr>
          <p:cNvPr id="11" name="账单">
            <a:extLst xmlns:a="http://schemas.openxmlformats.org/drawingml/2006/main">
              <a:ext uri="{FF2B5EF4-FFF2-40B4-BE49-F238E27FC236}">
                <a16:creationId xmlns:a16="http://schemas.microsoft.com/office/drawing/2014/main" id="{DF376492-7510-4DBF-8493-63AF888E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048000"/>
            <a:ext cx="1581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5"/>
          </a:solidFill>
          <a:ln xmlns:a="http://schemas.openxmlformats.org/drawingml/2006/main" w="9525">
            <a:solidFill>
              <a:srgbClr val="CCDDE2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账单</a:t>
            </a:r>
          </a:p>
        </p:txBody>
      </p:sp>
      <p:sp>
        <p:nvSpPr>
          <p:cNvPr id="12" name="理财">
            <a:extLst xmlns:a="http://schemas.openxmlformats.org/drawingml/2006/main">
              <a:ext uri="{FF2B5EF4-FFF2-40B4-BE49-F238E27FC236}">
                <a16:creationId xmlns:a16="http://schemas.microsoft.com/office/drawing/2014/main" id="{E091DFF3-5D78-4F0D-94E2-38C7FB3A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48000"/>
            <a:ext cx="1581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5"/>
          </a:solidFill>
          <a:ln xmlns:a="http://schemas.openxmlformats.org/drawingml/2006/main" w="9525">
            <a:solidFill>
              <a:srgbClr val="CCDDE2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理财</a:t>
            </a:r>
          </a:p>
        </p:txBody>
      </p:sp>
      <p:sp>
        <p:nvSpPr>
          <p:cNvPr id="13" name="卡片">
            <a:extLst xmlns:a="http://schemas.openxmlformats.org/drawingml/2006/main">
              <a:ext uri="{FF2B5EF4-FFF2-40B4-BE49-F238E27FC236}">
                <a16:creationId xmlns:a16="http://schemas.microsoft.com/office/drawing/2014/main" id="{030909A1-5765-4EDE-93E6-40F83219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048000"/>
            <a:ext cx="1581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5"/>
          </a:solidFill>
          <a:ln xmlns:a="http://schemas.openxmlformats.org/drawingml/2006/main" w="9525">
            <a:solidFill>
              <a:srgbClr val="CCDDE2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卡片</a:t>
            </a:r>
          </a:p>
        </p:txBody>
      </p:sp>
      <p:sp>
        <p:nvSpPr>
          <p:cNvPr id="14" name="订阅">
            <a:extLst xmlns:a="http://schemas.openxmlformats.org/drawingml/2006/main">
              <a:ext uri="{FF2B5EF4-FFF2-40B4-BE49-F238E27FC236}">
                <a16:creationId xmlns:a16="http://schemas.microsoft.com/office/drawing/2014/main" id="{917B21F8-771A-40AA-A774-5D49390B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48000"/>
            <a:ext cx="1581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5"/>
          </a:solidFill>
          <a:ln xmlns:a="http://schemas.openxmlformats.org/drawingml/2006/main" w="9525">
            <a:solidFill>
              <a:srgbClr val="CCDDE2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订阅</a:t>
            </a:r>
          </a:p>
        </p:txBody>
      </p:sp>
      <p:sp>
        <p:nvSpPr>
          <p:cNvPr id="15" name="生活目标">
            <a:extLst xmlns:a="http://schemas.openxmlformats.org/drawingml/2006/main">
              <a:ext uri="{FF2B5EF4-FFF2-40B4-BE49-F238E27FC236}">
                <a16:creationId xmlns:a16="http://schemas.microsoft.com/office/drawing/2014/main" id="{3BAFA1EC-EAB4-4213-9FB1-666F0489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048000"/>
            <a:ext cx="1581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5"/>
          </a:solidFill>
          <a:ln xmlns:a="http://schemas.openxmlformats.org/drawingml/2006/main" w="9525">
            <a:solidFill>
              <a:srgbClr val="CCDDE2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生活目标</a:t>
            </a:r>
          </a:p>
        </p:txBody>
      </p:sp>
      <p:sp>
        <p:nvSpPr>
          <p:cNvPr id="16" name="六领域按需并行层">
            <a:extLst xmlns:a="http://schemas.openxmlformats.org/drawingml/2006/main">
              <a:ext uri="{FF2B5EF4-FFF2-40B4-BE49-F238E27FC236}">
                <a16:creationId xmlns:a16="http://schemas.microsoft.com/office/drawing/2014/main" id="{7E0FC69D-23D5-47F8-A4FC-FE29162A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33700"/>
            <a:ext cx="11125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DE2"/>
            </a:solidFill>
          </a:ln>
        </p:spPr>
      </p:sp>
      <p:sp>
        <p:nvSpPr>
          <p:cNvPr id="18" name="按任务激活，支持并行">
            <a:extLst xmlns:a="http://schemas.openxmlformats.org/drawingml/2006/main">
              <a:ext uri="{FF2B5EF4-FFF2-40B4-BE49-F238E27FC236}">
                <a16:creationId xmlns:a16="http://schemas.microsoft.com/office/drawing/2014/main" id="{DFE61D9E-F5B3-4727-A2DC-EC9AB2A8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rPr>
              <a:t>按任务激活，支持并行</a:t>
            </a:r>
          </a:p>
        </p:txBody>
      </p:sp>
      <p:sp>
        <p:nvSpPr>
          <p:cNvPr id="19" name="独立 Reviewer">
            <a:extLst xmlns:a="http://schemas.openxmlformats.org/drawingml/2006/main">
              <a:ext uri="{FF2B5EF4-FFF2-40B4-BE49-F238E27FC236}">
                <a16:creationId xmlns:a16="http://schemas.microsoft.com/office/drawing/2014/main" id="{B5E2F086-B83D-44FE-9F68-503F25B3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5"/>
          </a:solidFill>
          <a:ln xmlns:a="http://schemas.openxmlformats.org/drawingml/2006/main" w="9525">
            <a:solidFill>
              <a:srgbClr val="CCDDE2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独立 Reviewer</a:t>
            </a:r>
          </a:p>
        </p:txBody>
      </p:sp>
      <p:sp>
        <p:nvSpPr>
          <p:cNvPr id="20" name="确定性 Core&#10;动作、权限与资金校验">
            <a:extLst xmlns:a="http://schemas.openxmlformats.org/drawingml/2006/main">
              <a:ext uri="{FF2B5EF4-FFF2-40B4-BE49-F238E27FC236}">
                <a16:creationId xmlns:a16="http://schemas.microsoft.com/office/drawing/2014/main" id="{B3DF8D83-0E2C-4500-A384-FD5A8D86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305300"/>
            <a:ext cx="2876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5"/>
          </a:solidFill>
          <a:ln xmlns:a="http://schemas.openxmlformats.org/drawingml/2006/main" w="9525">
            <a:solidFill>
              <a:srgbClr val="CCDDE2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确定性 Core</a:t>
            </a:r>
          </a:p>
          <a:p xmlns:a="http://schemas.openxmlformats.org/drawingml/2006/main">
            <a: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动作、权限与资金校验</a:t>
            </a:r>
          </a:p>
        </p:txBody>
      </p:sp>
      <p:sp>
        <p:nvSpPr>
          <p:cNvPr id="21" name="PostgreSQL&#10;占额 / 审计">
            <a:extLst xmlns:a="http://schemas.openxmlformats.org/drawingml/2006/main">
              <a:ext uri="{FF2B5EF4-FFF2-40B4-BE49-F238E27FC236}">
                <a16:creationId xmlns:a16="http://schemas.microsoft.com/office/drawing/2014/main" id="{00493B0D-A75A-4FE5-A94C-47A249E2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053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5"/>
          </a:solidFill>
          <a:ln xmlns:a="http://schemas.openxmlformats.org/drawingml/2006/main" w="9525">
            <a:solidFill>
              <a:srgbClr val="CCDDE2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PostgreSQL</a:t>
            </a:r>
          </a:p>
          <a:p xmlns:a="http://schemas.openxmlformats.org/drawingml/2006/main">
            <a: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占额 / 审计</a:t>
            </a:r>
          </a:p>
        </p:txBody>
      </p:sp>
      <p:sp>
        <p:nvSpPr>
          <p:cNvPr id="22" name="Worker&#10;合成提供方">
            <a:extLst xmlns:a="http://schemas.openxmlformats.org/drawingml/2006/main">
              <a:ext uri="{FF2B5EF4-FFF2-40B4-BE49-F238E27FC236}">
                <a16:creationId xmlns:a16="http://schemas.microsoft.com/office/drawing/2014/main" id="{E04A1B5E-EED6-4CF4-A86D-79A87321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305300"/>
            <a:ext cx="1981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5"/>
          </a:solidFill>
          <a:ln xmlns:a="http://schemas.openxmlformats.org/drawingml/2006/main" w="9525">
            <a:solidFill>
              <a:srgbClr val="CCDDE2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Worker</a:t>
            </a:r>
          </a:p>
          <a:p xmlns:a="http://schemas.openxmlformats.org/drawingml/2006/main">
            <a:pPr algn="ctr">
              <a:def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合成提供方</a:t>
            </a:r>
          </a:p>
        </p:txBody>
      </p:sp>
      <p:sp>
        <p:nvSpPr>
          <p:cNvPr id="27" name="Passkey 验证结果单独进入 Core">
            <a:extLst xmlns:a="http://schemas.openxmlformats.org/drawingml/2006/main">
              <a:ext uri="{FF2B5EF4-FFF2-40B4-BE49-F238E27FC236}">
                <a16:creationId xmlns:a16="http://schemas.microsoft.com/office/drawing/2014/main" id="{FB8C67B3-0738-45A8-8867-8C1168E0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238750"/>
            <a:ext cx="7381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rPr>
              <a:t>Passkey 验证结果单独进入 Core</a:t>
            </a:r>
          </a:p>
        </p:txBody>
      </p:sp>
      <p:sp>
        <p:nvSpPr>
          <p:cNvPr id="28" name="动作与授权在事务中登记，Outbox驱动派发">
            <a:extLst xmlns:a="http://schemas.openxmlformats.org/drawingml/2006/main">
              <a:ext uri="{FF2B5EF4-FFF2-40B4-BE49-F238E27FC236}">
                <a16:creationId xmlns:a16="http://schemas.microsoft.com/office/drawing/2014/main" id="{4107011C-86AB-444F-AF8C-FB3D9050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619750"/>
            <a:ext cx="809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rPr>
              <a:t>动作与授权在事务中登记，Outbox驱动派发</a:t>
            </a:r>
          </a:p>
        </p:txBody>
      </p:sp>
      <p:sp>
        <p:nvSpPr>
          <p:cNvPr id="29" name="六领域实现范围与模型质量验收分别说明">
            <a:extLst xmlns:a="http://schemas.openxmlformats.org/drawingml/2006/main">
              <a:ext uri="{FF2B5EF4-FFF2-40B4-BE49-F238E27FC236}">
                <a16:creationId xmlns:a16="http://schemas.microsoft.com/office/drawing/2014/main" id="{8ACAB03C-CE25-412F-9E77-7715077D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rPr>
              <a:t>六领域实现范围与模型质量验收分别说明</a:t>
            </a:r>
          </a:p>
        </p:txBody>
      </p:sp>
    </p:spTree>
    <p:extLst>
      <p:ext uri="{BB962C8B-B14F-4D97-AF65-F5344CB8AC3E}">
        <p14:creationId xmlns:p14="http://schemas.microsoft.com/office/powerpoint/2010/main" val="7517904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金额、预算与动作授权">
            <a:extLst xmlns:a="http://schemas.openxmlformats.org/drawingml/2006/main">
              <a:ext uri="{FF2B5EF4-FFF2-40B4-BE49-F238E27FC236}">
                <a16:creationId xmlns:a16="http://schemas.microsoft.com/office/drawing/2014/main" id="{0930CA5A-927E-4CC6-B39F-5F1F9F8C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金额、预算与动作授权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F862F-B03D-4AEC-958E-8224A319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CDDE2"/>
            </a:solidFill>
          </a:ln>
        </p:spPr>
      </p:sp>
      <p:sp>
        <p:nvSpPr>
          <p:cNvPr id="3" name="本地合成沙箱 · 候选答辩稿 · 2026.10.26">
            <a:extLst xmlns:a="http://schemas.openxmlformats.org/drawingml/2006/main">
              <a:ext uri="{FF2B5EF4-FFF2-40B4-BE49-F238E27FC236}">
                <a16:creationId xmlns:a16="http://schemas.microsoft.com/office/drawing/2014/main" id="{3F2AB5E7-EA50-45D9-A944-EE22A746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rPr>
              <a:t>本地合成沙箱 · 候选答辩稿 · 2026.10.26</a:t>
            </a:r>
          </a:p>
        </p:txBody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8D68711E-6A32-4D05-962F-CC3EB60B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62700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5" name="当前可用现金 = 余额 − 已授权及未知占额">
            <a:extLst xmlns:a="http://schemas.openxmlformats.org/drawingml/2006/main">
              <a:ext uri="{FF2B5EF4-FFF2-40B4-BE49-F238E27FC236}">
                <a16:creationId xmlns:a16="http://schemas.microsoft.com/office/drawing/2014/main" id="{2E0C1187-DEC3-4978-A3EE-C20E36F0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8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8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8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8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8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8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8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8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8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8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rPr>
              <a:t>当前可用现金 = 余额 − 已授权及未知占额</a:t>
            </a:r>
          </a:p>
        </p:txBody>
      </p:sp>
      <p:sp>
        <p:nvSpPr>
          <p:cNvPr id="6" name="金额统一使用整数分，未来收入和预计赎回不计入当前现金">
            <a:extLst xmlns:a="http://schemas.openxmlformats.org/drawingml/2006/main">
              <a:ext uri="{FF2B5EF4-FFF2-40B4-BE49-F238E27FC236}">
                <a16:creationId xmlns:a16="http://schemas.microsoft.com/office/drawing/2014/main" id="{DBE78324-0E55-4405-8E67-F46CF1F8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rPr>
              <a:t>金额统一使用整数分，未来收入和预计赎回不计入当前现金</a:t>
            </a:r>
          </a:p>
        </p:txBody>
      </p:sp>
      <p:sp>
        <p:nvSpPr>
          <p:cNvPr id="7" name="资金保护">
            <a:extLst xmlns:a="http://schemas.openxmlformats.org/drawingml/2006/main">
              <a:ext uri="{FF2B5EF4-FFF2-40B4-BE49-F238E27FC236}">
                <a16:creationId xmlns:a16="http://schemas.microsoft.com/office/drawing/2014/main" id="{99DD74E8-0D05-433B-B94E-9D99ED25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rPr>
              <a:t>资金保护</a:t>
            </a:r>
          </a:p>
        </p:txBody>
      </p:sp>
      <p:sp>
        <p:nvSpPr>
          <p:cNvPr id="8" name="保护最低余额&#10;覆盖未来30天到期或逾期义务&#10;授权和派发前分别重算">
            <a:extLst xmlns:a="http://schemas.openxmlformats.org/drawingml/2006/main">
              <a:ext uri="{FF2B5EF4-FFF2-40B4-BE49-F238E27FC236}">
                <a16:creationId xmlns:a16="http://schemas.microsoft.com/office/drawing/2014/main" id="{E7C86AC1-F0CF-4629-8D84-6959FF75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5143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保护最低余额</a:t>
            </a:r>
          </a:p>
          <a:p xmlns:a="http://schemas.openxmlformats.org/drawingml/2006/main">
            <a: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覆盖未来30天到期或逾期义务</a:t>
            </a:r>
          </a:p>
          <a:p xmlns:a="http://schemas.openxmlformats.org/drawingml/2006/main">
            <a: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授权和派发前分别重算</a:t>
            </a:r>
          </a:p>
        </p:txBody>
      </p:sp>
      <p:sp>
        <p:nvSpPr>
          <p:cNvPr id="9" name="分级确认">
            <a:extLst xmlns:a="http://schemas.openxmlformats.org/drawingml/2006/main">
              <a:ext uri="{FF2B5EF4-FFF2-40B4-BE49-F238E27FC236}">
                <a16:creationId xmlns:a16="http://schemas.microsoft.com/office/drawing/2014/main" id="{EAB45E9E-3BAF-4776-B9B3-3A7C8703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14675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rPr>
              <a:t>分级确认</a:t>
            </a:r>
          </a:p>
        </p:txBody>
      </p:sp>
      <p:sp>
        <p:nvSpPr>
          <p:cNvPr id="10" name="按上海业务日累计成功及在途金额&#10;累计≤100000分：显式确认&#10;累计&gt;10000">
            <a:extLst xmlns:a="http://schemas.openxmlformats.org/drawingml/2006/main">
              <a:ext uri="{FF2B5EF4-FFF2-40B4-BE49-F238E27FC236}">
                <a16:creationId xmlns:a16="http://schemas.microsoft.com/office/drawing/2014/main" id="{DD66BB94-7A70-409F-B65E-B00A88A4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48075"/>
            <a:ext cx="5048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按上海业务日累计成功及在途金额</a:t>
            </a:r>
          </a:p>
          <a:p xmlns:a="http://schemas.openxmlformats.org/drawingml/2006/main">
            <a: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累计≤100000分：显式确认</a:t>
            </a:r>
          </a:p>
          <a:p xmlns:a="http://schemas.openxmlformats.org/drawingml/2006/main">
            <a: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累计&gt;100000分：Passkey强验证</a:t>
            </a:r>
          </a:p>
        </p:txBody>
      </p:sp>
      <p:sp>
        <p:nvSpPr>
          <p:cNvPr id="11" name="动作哈希绑定用户、版本、对象、金额与策略">
            <a:extLst xmlns:a="http://schemas.openxmlformats.org/drawingml/2006/main">
              <a:ext uri="{FF2B5EF4-FFF2-40B4-BE49-F238E27FC236}">
                <a16:creationId xmlns:a16="http://schemas.microsoft.com/office/drawing/2014/main" id="{D6CFA75D-BB47-4B34-921D-B45B8487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2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2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2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2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2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2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2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2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2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rPr>
              <a:t>动作哈希绑定用户、版本、对象、金额与策略</a:t>
            </a:r>
          </a:p>
        </p:txBody>
      </p:sp>
      <p:sp>
        <p:nvSpPr>
          <p:cNvPr id="12" name="100000分为源码内部策略，赛事题面阈值映射待核">
            <a:extLst xmlns:a="http://schemas.openxmlformats.org/drawingml/2006/main">
              <a:ext uri="{FF2B5EF4-FFF2-40B4-BE49-F238E27FC236}">
                <a16:creationId xmlns:a16="http://schemas.microsoft.com/office/drawing/2014/main" id="{B08C2B3B-A4BC-4E9E-9565-F60B2139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5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9A5B17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650" b="0">
                <a:solidFill>
                  <a:srgbClr val="9A5B17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650" b="0">
                <a:solidFill>
                  <a:srgbClr val="9A5B17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650" b="0">
                <a:solidFill>
                  <a:srgbClr val="9A5B17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650" b="0">
                <a:solidFill>
                  <a:srgbClr val="9A5B17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650" b="0">
                <a:solidFill>
                  <a:srgbClr val="9A5B17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650" b="0">
                <a:solidFill>
                  <a:srgbClr val="9A5B17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650" b="0">
                <a:solidFill>
                  <a:srgbClr val="9A5B17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650" b="0">
                <a:solidFill>
                  <a:srgbClr val="9A5B17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650" b="0">
                <a:solidFill>
                  <a:srgbClr val="9A5B1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9A5B1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9A5B17"/>
                </a:solidFill>
                <a:latin typeface="Hiragino Sans GB"/>
                <a:ea typeface="Hiragino Sans GB"/>
                <a:cs typeface="Hiragino Sans GB"/>
              </a:rPr>
              <a:t>100000分为源码内部策略，赛事题面阈值映射待核</a:t>
            </a:r>
          </a:p>
        </p:txBody>
      </p:sp>
    </p:spTree>
    <p:extLst>
      <p:ext uri="{BB962C8B-B14F-4D97-AF65-F5344CB8AC3E}">
        <p14:creationId xmlns:p14="http://schemas.microsoft.com/office/powerpoint/2010/main" val="7193875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工作台中的到账准备与逐笔确认">
            <a:extLst xmlns:a="http://schemas.openxmlformats.org/drawingml/2006/main">
              <a:ext uri="{FF2B5EF4-FFF2-40B4-BE49-F238E27FC236}">
                <a16:creationId xmlns:a16="http://schemas.microsoft.com/office/drawing/2014/main" id="{A8C41099-648C-47B6-BC1A-690D71DC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工作台中的到账准备与逐笔确认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E4C48-2313-42E6-B95E-F91FDBCD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CDDE2"/>
            </a:solidFill>
          </a:ln>
        </p:spPr>
      </p:sp>
      <p:sp>
        <p:nvSpPr>
          <p:cNvPr id="3" name="G9V scripted r2 · 本地真实API / Worker / Pos">
            <a:extLst xmlns:a="http://schemas.openxmlformats.org/drawingml/2006/main">
              <a:ext uri="{FF2B5EF4-FFF2-40B4-BE49-F238E27FC236}">
                <a16:creationId xmlns:a16="http://schemas.microsoft.com/office/drawing/2014/main" id="{9DCE56C6-981E-42C3-AD0C-A2E051CB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rPr>
              <a:t>G9V scripted r2 · 本地真实API / Worker / PostgreSQL · 虚拟WebAuthn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8E342CA9-E814-4640-861E-42E2CCBD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62700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DE4BBC-F11F-4FD3-9A2A-62D7C12DC5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7396807dc24ea0"/>
          <a:stretch xmlns:a="http://schemas.openxmlformats.org/drawingml/2006/main"/>
        </p:blipFill>
        <p:spPr>
          <a:xfrm xmlns:a="http://schemas.openxmlformats.org/drawingml/2006/main">
            <a:off x="1103084" y="1438275"/>
            <a:ext cx="6537782" cy="4667250"/>
          </a:xfrm>
          <a:prstGeom xmlns:a="http://schemas.openxmlformats.org/drawingml/2006/main" prst="rect">
            <a:avLst/>
          </a:prstGeom>
        </p:spPr>
      </p:pic>
      <p:sp>
        <p:nvSpPr>
          <p:cNvPr id="6" name="到账已完成">
            <a:extLst xmlns:a="http://schemas.openxmlformats.org/drawingml/2006/main">
              <a:ext uri="{FF2B5EF4-FFF2-40B4-BE49-F238E27FC236}">
                <a16:creationId xmlns:a16="http://schemas.microsoft.com/office/drawing/2014/main" id="{61CF38C6-4F20-4F19-B613-596A3E86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771650"/>
            <a:ext cx="30765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625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625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625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625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625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625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625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625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625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625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rPr>
              <a:t>到账已完成</a:t>
            </a:r>
          </a:p>
        </p:txBody>
      </p:sp>
      <p:sp>
        <p:nvSpPr>
          <p:cNvPr id="7" name="1000元T+0赎回到账&#10;此时尚无付款授权&#10;后续付款需另行准备">
            <a:extLst xmlns:a="http://schemas.openxmlformats.org/drawingml/2006/main">
              <a:ext uri="{FF2B5EF4-FFF2-40B4-BE49-F238E27FC236}">
                <a16:creationId xmlns:a16="http://schemas.microsoft.com/office/drawing/2014/main" id="{8B6DAFDD-DF68-4D85-9516-8AF73B0D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524125"/>
            <a:ext cx="30765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0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0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0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0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0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0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0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0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0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1000元T+0赎回到账</a:t>
            </a:r>
          </a:p>
          <a:p xmlns:a="http://schemas.openxmlformats.org/drawingml/2006/main">
            <a:pPr>
              <a:defRPr sz="210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此时尚无付款授权</a:t>
            </a:r>
          </a:p>
          <a:p xmlns:a="http://schemas.openxmlformats.org/drawingml/2006/main">
            <a:pPr>
              <a:defRPr sz="210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后续付款需另行准备</a:t>
            </a:r>
          </a:p>
        </p:txBody>
      </p:sp>
      <p:sp>
        <p:nvSpPr>
          <p:cNvPr id="8" name="本页展示流程状态，&#10;未使用真实模型">
            <a:extLst xmlns:a="http://schemas.openxmlformats.org/drawingml/2006/main">
              <a:ext uri="{FF2B5EF4-FFF2-40B4-BE49-F238E27FC236}">
                <a16:creationId xmlns:a16="http://schemas.microsoft.com/office/drawing/2014/main" id="{6C16D060-FE5F-4BE6-A4BF-9E4B04E6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714875"/>
            <a:ext cx="30765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rPr>
              <a:t>本页展示流程状态，</a:t>
            </a:r>
          </a:p>
          <a:p xmlns:a="http://schemas.openxmlformats.org/drawingml/2006/main">
            <a:pPr>
              <a:defRPr sz="2025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rPr>
              <a:t>未使用真实模型</a:t>
            </a:r>
          </a:p>
        </p:txBody>
      </p:sp>
    </p:spTree>
    <p:extLst>
      <p:ext uri="{BB962C8B-B14F-4D97-AF65-F5344CB8AC3E}">
        <p14:creationId xmlns:p14="http://schemas.microsoft.com/office/powerpoint/2010/main" val="19873991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+0到账后独立付款">
            <a:extLst xmlns:a="http://schemas.openxmlformats.org/drawingml/2006/main">
              <a:ext uri="{FF2B5EF4-FFF2-40B4-BE49-F238E27FC236}">
                <a16:creationId xmlns:a16="http://schemas.microsoft.com/office/drawing/2014/main" id="{D51A8D66-DF4E-472D-87B1-6E50956D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T+0到账后独立付款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E8548C-B734-49F4-9188-F2C3F6A0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CDDE2"/>
            </a:solidFill>
          </a:ln>
        </p:spPr>
      </p:sp>
      <p:sp>
        <p:nvSpPr>
          <p:cNvPr id="3" name="G9V scripted r2 · 合成提供方 · 虚拟WebAuthn · 刷">
            <a:extLst xmlns:a="http://schemas.openxmlformats.org/drawingml/2006/main">
              <a:ext uri="{FF2B5EF4-FFF2-40B4-BE49-F238E27FC236}">
                <a16:creationId xmlns:a16="http://schemas.microsoft.com/office/drawing/2014/main" id="{FB8636AB-1945-4F0E-98CF-0BA7565E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rPr>
              <a:t>G9V scripted r2 · 合成提供方 · 虚拟WebAuthn · 刷新及重登保留原回执</a:t>
            </a:r>
          </a:p>
        </p:txBody>
      </p:sp>
      <p:sp>
        <p:nvSpPr>
          <p:cNvPr id="4" name="07">
            <a:extLst xmlns:a="http://schemas.openxmlformats.org/drawingml/2006/main">
              <a:ext uri="{FF2B5EF4-FFF2-40B4-BE49-F238E27FC236}">
                <a16:creationId xmlns:a16="http://schemas.microsoft.com/office/drawing/2014/main" id="{1916F345-337F-4F88-B7BC-8D6B2A5A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62700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26CCBB-2E80-4BA1-B453-B30C14491C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76f4b8a54c477f"/>
          <a:stretch xmlns:a="http://schemas.openxmlformats.org/drawingml/2006/main"/>
        </p:blipFill>
        <p:spPr>
          <a:xfrm xmlns:a="http://schemas.openxmlformats.org/drawingml/2006/main">
            <a:off x="1186743" y="1438275"/>
            <a:ext cx="6370464" cy="4667250"/>
          </a:xfrm>
          <a:prstGeom xmlns:a="http://schemas.openxmlformats.org/drawingml/2006/main" prst="rect">
            <a:avLst/>
          </a:prstGeom>
        </p:spPr>
      </p:pic>
      <p:sp>
        <p:nvSpPr>
          <p:cNvPr id="6" name="¥8,000">
            <a:extLst xmlns:a="http://schemas.openxmlformats.org/drawingml/2006/main">
              <a:ext uri="{FF2B5EF4-FFF2-40B4-BE49-F238E27FC236}">
                <a16:creationId xmlns:a16="http://schemas.microsoft.com/office/drawing/2014/main" id="{E3FCB7C2-88B1-4D9C-AC08-9D6A4FC4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657350"/>
            <a:ext cx="3095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rPr>
              <a:t>¥8,000</a:t>
            </a:r>
          </a:p>
        </p:txBody>
      </p:sp>
      <p:sp>
        <p:nvSpPr>
          <p:cNvPr id="7" name="初始余额">
            <a:extLst xmlns:a="http://schemas.openxmlformats.org/drawingml/2006/main">
              <a:ext uri="{FF2B5EF4-FFF2-40B4-BE49-F238E27FC236}">
                <a16:creationId xmlns:a16="http://schemas.microsoft.com/office/drawing/2014/main" id="{8BFA1658-89B8-4F32-A6D2-A1619421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371725"/>
            <a:ext cx="309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rPr>
              <a:t>初始余额</a:t>
            </a:r>
          </a:p>
        </p:txBody>
      </p:sp>
      <p:sp>
        <p:nvSpPr>
          <p:cNvPr id="8" name="¥9,000">
            <a:extLst xmlns:a="http://schemas.openxmlformats.org/drawingml/2006/main">
              <a:ext uri="{FF2B5EF4-FFF2-40B4-BE49-F238E27FC236}">
                <a16:creationId xmlns:a16="http://schemas.microsoft.com/office/drawing/2014/main" id="{60D08DDA-9F06-4183-B6F2-D8730858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086100"/>
            <a:ext cx="3095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rPr>
              <a:t>¥9,000</a:t>
            </a:r>
          </a:p>
        </p:txBody>
      </p:sp>
      <p:sp>
        <p:nvSpPr>
          <p:cNvPr id="9" name="1000元赎回到账后">
            <a:extLst xmlns:a="http://schemas.openxmlformats.org/drawingml/2006/main">
              <a:ext uri="{FF2B5EF4-FFF2-40B4-BE49-F238E27FC236}">
                <a16:creationId xmlns:a16="http://schemas.microsoft.com/office/drawing/2014/main" id="{E01C7AB4-141D-4DAF-830E-5EB34F76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800475"/>
            <a:ext cx="309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rPr>
              <a:t>1000元赎回到账后</a:t>
            </a:r>
          </a:p>
        </p:txBody>
      </p:sp>
      <p:sp>
        <p:nvSpPr>
          <p:cNvPr id="10" name="¥8,699.75">
            <a:extLst xmlns:a="http://schemas.openxmlformats.org/drawingml/2006/main">
              <a:ext uri="{FF2B5EF4-FFF2-40B4-BE49-F238E27FC236}">
                <a16:creationId xmlns:a16="http://schemas.microsoft.com/office/drawing/2014/main" id="{59541E0E-686A-4200-AB56-A10A71CC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514850"/>
            <a:ext cx="3095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rPr>
              <a:t>¥8,699.75</a:t>
            </a:r>
          </a:p>
        </p:txBody>
      </p:sp>
      <p:sp>
        <p:nvSpPr>
          <p:cNvPr id="11" name="独立付款300.25元后">
            <a:extLst xmlns:a="http://schemas.openxmlformats.org/drawingml/2006/main">
              <a:ext uri="{FF2B5EF4-FFF2-40B4-BE49-F238E27FC236}">
                <a16:creationId xmlns:a16="http://schemas.microsoft.com/office/drawing/2014/main" id="{2D65DD34-E040-45D0-AB5A-377D14AA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5229225"/>
            <a:ext cx="309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rPr>
              <a:t>独立付款300.25元后</a:t>
            </a:r>
          </a:p>
        </p:txBody>
      </p:sp>
    </p:spTree>
    <p:extLst>
      <p:ext uri="{BB962C8B-B14F-4D97-AF65-F5344CB8AC3E}">
        <p14:creationId xmlns:p14="http://schemas.microsoft.com/office/powerpoint/2010/main" val="11366405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提交后超时的原单恢复">
            <a:extLst xmlns:a="http://schemas.openxmlformats.org/drawingml/2006/main">
              <a:ext uri="{FF2B5EF4-FFF2-40B4-BE49-F238E27FC236}">
                <a16:creationId xmlns:a16="http://schemas.microsoft.com/office/drawing/2014/main" id="{F55C92B4-6DE0-407E-9DF6-58BD699C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提交后超时的原单恢复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09E343-E498-4F6B-AB56-7D47AF29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CDDE2"/>
            </a:solidFill>
          </a:ln>
        </p:spPr>
      </p:sp>
      <p:sp>
        <p:nvSpPr>
          <p:cNvPr id="3" name="G9V scripted r2 · UNKNOWN与占额由API / 数据库断言">
            <a:extLst xmlns:a="http://schemas.openxmlformats.org/drawingml/2006/main">
              <a:ext uri="{FF2B5EF4-FFF2-40B4-BE49-F238E27FC236}">
                <a16:creationId xmlns:a16="http://schemas.microsoft.com/office/drawing/2014/main" id="{39587268-7C15-4A5E-8BEA-76AAAB03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rPr>
              <a:t>G9V scripted r2 · UNKNOWN与占额由API / 数据库断言 · 截图为查单后的原回执</a:t>
            </a:r>
          </a:p>
        </p:txBody>
      </p:sp>
      <p:sp>
        <p:nvSpPr>
          <p:cNvPr id="4" name="08">
            <a:extLst xmlns:a="http://schemas.openxmlformats.org/drawingml/2006/main">
              <a:ext uri="{FF2B5EF4-FFF2-40B4-BE49-F238E27FC236}">
                <a16:creationId xmlns:a16="http://schemas.microsoft.com/office/drawing/2014/main" id="{9B2D5188-4EFA-41A5-A24F-28480FF8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62700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3FF24E-0330-45D0-8851-FA4D1B69A6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0d6871cd414712"/>
          <a:stretch xmlns:a="http://schemas.openxmlformats.org/drawingml/2006/main"/>
        </p:blipFill>
        <p:spPr>
          <a:xfrm xmlns:a="http://schemas.openxmlformats.org/drawingml/2006/main">
            <a:off x="1076325" y="1438275"/>
            <a:ext cx="6172200" cy="4286250"/>
          </a:xfrm>
          <a:prstGeom xmlns:a="http://schemas.openxmlformats.org/drawingml/2006/main" prst="rect">
            <a:avLst/>
          </a:prstGeom>
        </p:spPr>
      </p:pic>
      <p:sp>
        <p:nvSpPr>
          <p:cNvPr id="6" name="600元提交后超时">
            <a:extLst xmlns:a="http://schemas.openxmlformats.org/drawingml/2006/main">
              <a:ext uri="{FF2B5EF4-FFF2-40B4-BE49-F238E27FC236}">
                <a16:creationId xmlns:a16="http://schemas.microsoft.com/office/drawing/2014/main" id="{6599F4CB-B1B4-4639-9C97-1836A7AC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581150"/>
            <a:ext cx="3533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40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40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40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40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40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40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40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40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40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40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rPr>
              <a:t>600元提交后超时</a:t>
            </a:r>
          </a:p>
        </p:txBody>
      </p:sp>
      <p:sp>
        <p:nvSpPr>
          <p:cNvPr id="7" name="UNKNOWN保留占额&#10;刷新后手动查原单&#10;恢复同一付款回执">
            <a:extLst xmlns:a="http://schemas.openxmlformats.org/drawingml/2006/main">
              <a:ext uri="{FF2B5EF4-FFF2-40B4-BE49-F238E27FC236}">
                <a16:creationId xmlns:a16="http://schemas.microsoft.com/office/drawing/2014/main" id="{C046B307-AA6B-4E5F-ACE6-EEFDD978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43150"/>
            <a:ext cx="353377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UNKNOWN保留占额</a:t>
            </a:r>
          </a:p>
          <a:p xmlns:a="http://schemas.openxmlformats.org/drawingml/2006/main">
            <a:pPr>
              <a:defRPr sz="202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刷新后手动查原单</a:t>
            </a:r>
          </a:p>
          <a:p xmlns:a="http://schemas.openxmlformats.org/drawingml/2006/main">
            <a:pPr>
              <a:defRPr sz="202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恢复同一付款回执</a:t>
            </a:r>
          </a:p>
        </p:txBody>
      </p:sp>
      <p:sp>
        <p:nvSpPr>
          <p:cNvPr id="8" name="¥8,099.75">
            <a:extLst xmlns:a="http://schemas.openxmlformats.org/drawingml/2006/main">
              <a:ext uri="{FF2B5EF4-FFF2-40B4-BE49-F238E27FC236}">
                <a16:creationId xmlns:a16="http://schemas.microsoft.com/office/drawing/2014/main" id="{99EC57F8-4533-452B-82A0-E935BABE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029075"/>
            <a:ext cx="35337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rPr>
              <a:t>¥8,099.75</a:t>
            </a:r>
          </a:p>
        </p:txBody>
      </p:sp>
      <p:sp>
        <p:nvSpPr>
          <p:cNvPr id="9" name="原单完成后余额">
            <a:extLst xmlns:a="http://schemas.openxmlformats.org/drawingml/2006/main">
              <a:ext uri="{FF2B5EF4-FFF2-40B4-BE49-F238E27FC236}">
                <a16:creationId xmlns:a16="http://schemas.microsoft.com/office/drawing/2014/main" id="{770BD026-C591-43C3-B178-9BA4D2E3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743450"/>
            <a:ext cx="3533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rPr>
              <a:t>原单完成后余额</a:t>
            </a:r>
          </a:p>
        </p:txBody>
      </p:sp>
      <p:sp>
        <p:nvSpPr>
          <p:cNvPr id="10" name="两笔付款：2笔提供方交易，4条借贷分录，未新增授权证明">
            <a:extLst xmlns:a="http://schemas.openxmlformats.org/drawingml/2006/main">
              <a:ext uri="{FF2B5EF4-FFF2-40B4-BE49-F238E27FC236}">
                <a16:creationId xmlns:a16="http://schemas.microsoft.com/office/drawing/2014/main" id="{71D7601F-E850-4D79-AAED-20018284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0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0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0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0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0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0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0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0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0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rPr>
              <a:t>两笔付款：2笔提供方交易，4条借贷分录，未新增授权证明</a:t>
            </a:r>
          </a:p>
        </p:txBody>
      </p:sp>
    </p:spTree>
    <p:extLst>
      <p:ext uri="{BB962C8B-B14F-4D97-AF65-F5344CB8AC3E}">
        <p14:creationId xmlns:p14="http://schemas.microsoft.com/office/powerpoint/2010/main" val="19520556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安全控制与尚未覆盖的风险">
            <a:extLst xmlns:a="http://schemas.openxmlformats.org/drawingml/2006/main">
              <a:ext uri="{FF2B5EF4-FFF2-40B4-BE49-F238E27FC236}">
                <a16:creationId xmlns:a16="http://schemas.microsoft.com/office/drawing/2014/main" id="{7289DFC5-7CC1-447A-841D-5A363BA8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安全控制与尚未覆盖的风险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D41500-8623-48D6-A2D0-67C44285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CDDE2"/>
            </a:solidFill>
          </a:ln>
        </p:spPr>
      </p:sp>
      <p:sp>
        <p:nvSpPr>
          <p:cNvPr id="3" name="本地合成沙箱 · 候选答辩稿 · 2026.10.26">
            <a:extLst xmlns:a="http://schemas.openxmlformats.org/drawingml/2006/main">
              <a:ext uri="{FF2B5EF4-FFF2-40B4-BE49-F238E27FC236}">
                <a16:creationId xmlns:a16="http://schemas.microsoft.com/office/drawing/2014/main" id="{1CCA0346-79FF-45CC-93E7-660BA140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rPr>
              <a:t>本地合成沙箱 · 候选答辩稿 · 2026.10.26</a:t>
            </a:r>
          </a:p>
        </p:txBody>
      </p:sp>
      <p:sp>
        <p:nvSpPr>
          <p:cNvPr id="4" name="09">
            <a:extLst xmlns:a="http://schemas.openxmlformats.org/drawingml/2006/main">
              <a:ext uri="{FF2B5EF4-FFF2-40B4-BE49-F238E27FC236}">
                <a16:creationId xmlns:a16="http://schemas.microsoft.com/office/drawing/2014/main" id="{B16F84E2-800C-4F3E-9AC8-128A6F8E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62700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5" name="当前实现">
            <a:extLst xmlns:a="http://schemas.openxmlformats.org/drawingml/2006/main">
              <a:ext uri="{FF2B5EF4-FFF2-40B4-BE49-F238E27FC236}">
                <a16:creationId xmlns:a16="http://schemas.microsoft.com/office/drawing/2014/main" id="{EFFF29F2-233A-4EBE-B93C-E65CDE5F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rPr>
              <a:t>当前实现</a:t>
            </a:r>
          </a:p>
        </p:txBody>
      </p:sp>
      <p:sp>
        <p:nvSpPr>
          <p:cNvPr id="6" name="会话Actor限定资源归属&#10;动作哈希和一次性证明防重放&#10;Origin / RP ">
            <a:extLst xmlns:a="http://schemas.openxmlformats.org/drawingml/2006/main">
              <a:ext uri="{FF2B5EF4-FFF2-40B4-BE49-F238E27FC236}">
                <a16:creationId xmlns:a16="http://schemas.microsoft.com/office/drawing/2014/main" id="{417F081C-12D2-4AEF-BBBB-0CBADEAE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238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会话Actor限定资源归属</a:t>
            </a:r>
          </a:p>
          <a:p xmlns:a="http://schemas.openxmlformats.org/drawingml/2006/main">
            <a: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动作哈希和一次性证明防重放</a:t>
            </a:r>
          </a:p>
          <a:p xmlns:a="http://schemas.openxmlformats.org/drawingml/2006/main">
            <a: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Origin / RP ID / 用户验证检查</a:t>
            </a:r>
          </a:p>
          <a:p xmlns:a="http://schemas.openxmlformats.org/drawingml/2006/main">
            <a: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幂等请求与未知结果对账</a:t>
            </a:r>
          </a:p>
        </p:txBody>
      </p:sp>
      <p:sp>
        <p:nvSpPr>
          <p:cNvPr id="7" name="验收边界">
            <a:extLst xmlns:a="http://schemas.openxmlformats.org/drawingml/2006/main">
              <a:ext uri="{FF2B5EF4-FFF2-40B4-BE49-F238E27FC236}">
                <a16:creationId xmlns:a16="http://schemas.microsoft.com/office/drawing/2014/main" id="{DEC05889-3DE8-4E01-99B4-44AD2E9C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192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rPr>
              <a:t>验收边界</a:t>
            </a:r>
          </a:p>
        </p:txBody>
      </p:sp>
      <p:sp>
        <p:nvSpPr>
          <p:cNvPr id="8" name="虚拟WebAuthn，尚非实体验证器&#10;合成银行，尚无真实机构接入&#10;合成工作日历，">
            <a:extLst xmlns:a="http://schemas.openxmlformats.org/drawingml/2006/main">
              <a:ext uri="{FF2B5EF4-FFF2-40B4-BE49-F238E27FC236}">
                <a16:creationId xmlns:a16="http://schemas.microsoft.com/office/drawing/2014/main" id="{1BDD08CE-6E94-45C6-9DE1-0AECD48D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52650"/>
            <a:ext cx="5048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虚拟WebAuthn，尚非实体验证器</a:t>
            </a:r>
          </a:p>
          <a:p xmlns:a="http://schemas.openxmlformats.org/drawingml/2006/main">
            <a: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合成银行，尚无真实机构接入</a:t>
            </a:r>
          </a:p>
          <a:p xmlns:a="http://schemas.openxmlformats.org/drawingml/2006/main">
            <a: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合成工作日历，未含法定假期</a:t>
            </a:r>
          </a:p>
          <a:p xmlns:a="http://schemas.openxmlformats.org/drawingml/2006/main">
            <a:pPr>
              <a:def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生产部署与外部安全测试待完成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EA428C-911F-4185-824F-995187F3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CDDE2"/>
            </a:solidFill>
          </a:ln>
        </p:spPr>
      </p:sp>
      <p:sp>
        <p:nvSpPr>
          <p:cNvPr id="10" name="固定八例真实模型回归：8 / 8">
            <a:extLst xmlns:a="http://schemas.openxmlformats.org/drawingml/2006/main">
              <a:ext uri="{FF2B5EF4-FFF2-40B4-BE49-F238E27FC236}">
                <a16:creationId xmlns:a16="http://schemas.microsoft.com/office/drawing/2014/main" id="{15CD0AA3-1DB8-406C-8130-21BC66B3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rPr>
              <a:t>固定八例真实模型回归：8 / 8</a:t>
            </a:r>
          </a:p>
        </p:txBody>
      </p:sp>
      <p:sp>
        <p:nvSpPr>
          <p:cNvPr id="11" name="六域各一正向 + 否定 / 歧义；20次请求零重试；非盲测">
            <a:extLst xmlns:a="http://schemas.openxmlformats.org/drawingml/2006/main">
              <a:ext uri="{FF2B5EF4-FFF2-40B4-BE49-F238E27FC236}">
                <a16:creationId xmlns:a16="http://schemas.microsoft.com/office/drawing/2014/main" id="{C00F1595-E46E-41F1-8BCF-DC2D2F5B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rPr>
              <a:t>六域各一正向 + 否定 / 歧义；20次请求零重试；非盲测</a:t>
            </a:r>
          </a:p>
        </p:txBody>
      </p:sp>
    </p:spTree>
    <p:extLst>
      <p:ext uri="{BB962C8B-B14F-4D97-AF65-F5344CB8AC3E}">
        <p14:creationId xmlns:p14="http://schemas.microsoft.com/office/powerpoint/2010/main" val="2875315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当前证据与提交前缺口">
            <a:extLst xmlns:a="http://schemas.openxmlformats.org/drawingml/2006/main">
              <a:ext uri="{FF2B5EF4-FFF2-40B4-BE49-F238E27FC236}">
                <a16:creationId xmlns:a16="http://schemas.microsoft.com/office/drawing/2014/main" id="{059597F2-A03D-4B2A-8A51-DCCBB77E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当前证据与提交前缺口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112AD8-40BF-4F9A-9316-B5615545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CDDE2"/>
            </a:solidFill>
          </a:ln>
        </p:spPr>
      </p:sp>
      <p:sp>
        <p:nvSpPr>
          <p:cNvPr id="3" name="本地合成沙箱 · 候选答辩稿 · 2026.10.26">
            <a:extLst xmlns:a="http://schemas.openxmlformats.org/drawingml/2006/main">
              <a:ext uri="{FF2B5EF4-FFF2-40B4-BE49-F238E27FC236}">
                <a16:creationId xmlns:a16="http://schemas.microsoft.com/office/drawing/2014/main" id="{03C14D51-AEDD-48ED-829F-805C92FB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rPr>
              <a:t>本地合成沙箱 · 候选答辩稿 · 2026.10.26</a:t>
            </a:r>
          </a:p>
        </p:txBody>
      </p:sp>
      <p:sp>
        <p:nvSpPr>
          <p:cNvPr id="4" name="10">
            <a:extLst xmlns:a="http://schemas.openxmlformats.org/drawingml/2006/main">
              <a:ext uri="{FF2B5EF4-FFF2-40B4-BE49-F238E27FC236}">
                <a16:creationId xmlns:a16="http://schemas.microsoft.com/office/drawing/2014/main" id="{EB22AF7C-3F77-4C40-98D7-217C6635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62700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sp>
        <p:nvSpPr>
          <p:cNvPr id="5" name="2 / 2">
            <a:extLst xmlns:a="http://schemas.openxmlformats.org/drawingml/2006/main">
              <a:ext uri="{FF2B5EF4-FFF2-40B4-BE49-F238E27FC236}">
                <a16:creationId xmlns:a16="http://schemas.microsoft.com/office/drawing/2014/main" id="{4C7FD85E-6CD8-41FE-81F5-51669C92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3276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rPr>
              <a:t>2 / 2</a:t>
            </a:r>
          </a:p>
        </p:txBody>
      </p:sp>
      <p:sp>
        <p:nvSpPr>
          <p:cNvPr id="6" name="资金流程 r2&#10;scripted / 虚拟WebAuthn">
            <a:extLst xmlns:a="http://schemas.openxmlformats.org/drawingml/2006/main">
              <a:ext uri="{FF2B5EF4-FFF2-40B4-BE49-F238E27FC236}">
                <a16:creationId xmlns:a16="http://schemas.microsoft.com/office/drawing/2014/main" id="{8A80E39D-595A-4778-AD3E-DFD2216B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327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rPr>
              <a:t>资金流程 r2</a:t>
            </a:r>
          </a:p>
          <a:p xmlns:a="http://schemas.openxmlformats.org/drawingml/2006/main">
            <a: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rPr>
              <a:t>scripted / 虚拟WebAuthn</a:t>
            </a:r>
          </a:p>
        </p:txBody>
      </p:sp>
      <p:sp>
        <p:nvSpPr>
          <p:cNvPr id="7" name="8 / 8">
            <a:extLst xmlns:a="http://schemas.openxmlformats.org/drawingml/2006/main">
              <a:ext uri="{FF2B5EF4-FFF2-40B4-BE49-F238E27FC236}">
                <a16:creationId xmlns:a16="http://schemas.microsoft.com/office/drawing/2014/main" id="{53393842-1317-42DF-BF17-3CEBBC96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28775"/>
            <a:ext cx="3276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rPr>
              <a:t>8 / 8</a:t>
            </a:r>
          </a:p>
        </p:txBody>
      </p:sp>
      <p:sp>
        <p:nvSpPr>
          <p:cNvPr id="8" name="固定八例真实模型&#10;20次请求，零重试">
            <a:extLst xmlns:a="http://schemas.openxmlformats.org/drawingml/2006/main">
              <a:ext uri="{FF2B5EF4-FFF2-40B4-BE49-F238E27FC236}">
                <a16:creationId xmlns:a16="http://schemas.microsoft.com/office/drawing/2014/main" id="{AF3098FA-5CED-45FE-BFF8-0582514B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43150"/>
            <a:ext cx="327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rPr>
              <a:t>固定八例真实模型</a:t>
            </a:r>
          </a:p>
          <a:p xmlns:a="http://schemas.openxmlformats.org/drawingml/2006/main">
            <a: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rPr>
              <a:t>20次请求，零重试</a:t>
            </a:r>
          </a:p>
        </p:txBody>
      </p:sp>
      <p:sp>
        <p:nvSpPr>
          <p:cNvPr id="9" name="3,420">
            <a:extLst xmlns:a="http://schemas.openxmlformats.org/drawingml/2006/main">
              <a:ext uri="{FF2B5EF4-FFF2-40B4-BE49-F238E27FC236}">
                <a16:creationId xmlns:a16="http://schemas.microsoft.com/office/drawing/2014/main" id="{5EE90164-DDCC-4FF8-A53F-041FEA25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28775"/>
            <a:ext cx="3238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75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rPr>
              <a:t>3,420</a:t>
            </a:r>
          </a:p>
        </p:txBody>
      </p:sp>
      <p:sp>
        <p:nvSpPr>
          <p:cNvPr id="10" name="独立源码副本测试&#10;类型检查与构建通过">
            <a:extLst xmlns:a="http://schemas.openxmlformats.org/drawingml/2006/main">
              <a:ext uri="{FF2B5EF4-FFF2-40B4-BE49-F238E27FC236}">
                <a16:creationId xmlns:a16="http://schemas.microsoft.com/office/drawing/2014/main" id="{C68DFB4A-530C-48A8-BE8D-12D4BF21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431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rPr>
              <a:t>独立源码副本测试</a:t>
            </a:r>
          </a:p>
          <a:p xmlns:a="http://schemas.openxmlformats.org/drawingml/2006/main">
            <a:pPr>
              <a:def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546B78"/>
                </a:solidFill>
                <a:latin typeface="Hiragino Sans GB"/>
                <a:ea typeface="Hiragino Sans GB"/>
                <a:cs typeface="Hiragino Sans GB"/>
              </a:rPr>
              <a:t>类型检查与构建通过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D8361D-B201-43BC-BD76-BFD18423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CDDE2"/>
            </a:solidFill>
          </a:ln>
        </p:spPr>
      </p:sp>
      <p:sp>
        <p:nvSpPr>
          <p:cNvPr id="12" name="待补：云模型资金全链路、未见样本与提交复现">
            <a:extLst xmlns:a="http://schemas.openxmlformats.org/drawingml/2006/main">
              <a:ext uri="{FF2B5EF4-FFF2-40B4-BE49-F238E27FC236}">
                <a16:creationId xmlns:a16="http://schemas.microsoft.com/office/drawing/2014/main" id="{C9CEA892-182D-4D29-B640-C5456955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53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40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40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40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40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40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40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40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40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40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40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685"/>
                </a:solidFill>
                <a:latin typeface="Hiragino Sans GB"/>
                <a:ea typeface="Hiragino Sans GB"/>
                <a:cs typeface="Hiragino Sans GB"/>
              </a:rPr>
              <a:t>待补：云模型资金全链路、未见样本与提交复现</a:t>
            </a:r>
          </a:p>
        </p:txBody>
      </p:sp>
      <p:sp>
        <p:nvSpPr>
          <p:cNvPr id="13" name="GitHub：1hb6s7t/BankPilot；待复现、计时与门户提交">
            <a:extLst xmlns:a="http://schemas.openxmlformats.org/drawingml/2006/main">
              <a:ext uri="{FF2B5EF4-FFF2-40B4-BE49-F238E27FC236}">
                <a16:creationId xmlns:a16="http://schemas.microsoft.com/office/drawing/2014/main" id="{52A3B45A-6789-40B9-B0A0-69583028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0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0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0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0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0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0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0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0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0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5384B"/>
                </a:solidFill>
                <a:latin typeface="Hiragino Sans GB"/>
                <a:ea typeface="Hiragino Sans GB"/>
                <a:cs typeface="Hiragino Sans GB"/>
              </a:rPr>
              <a:t>GitHub：1hb6s7t/BankPilot；待复现、计时与门户提交</a:t>
            </a:r>
          </a:p>
        </p:txBody>
      </p:sp>
      <p:sp>
        <p:nvSpPr>
          <p:cNvPr id="14" name="11月2日前：固定源码与材料，记录各项实际验收结果">
            <a:extLst xmlns:a="http://schemas.openxmlformats.org/drawingml/2006/main">
              <a:ext uri="{FF2B5EF4-FFF2-40B4-BE49-F238E27FC236}">
                <a16:creationId xmlns:a16="http://schemas.microsoft.com/office/drawing/2014/main" id="{A86B8BFE-68C8-4694-AEDB-F0E3499C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0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0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0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0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0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0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0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0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0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67E81"/>
                </a:solidFill>
                <a:latin typeface="Hiragino Sans GB"/>
                <a:ea typeface="Hiragino Sans GB"/>
                <a:cs typeface="Hiragino Sans GB"/>
              </a:rPr>
              <a:t>11月2日前：固定源码与材料，记录各项实际验收结果</a:t>
            </a:r>
          </a:p>
        </p:txBody>
      </p:sp>
    </p:spTree>
    <p:extLst>
      <p:ext uri="{BB962C8B-B14F-4D97-AF65-F5344CB8AC3E}">
        <p14:creationId xmlns:p14="http://schemas.microsoft.com/office/powerpoint/2010/main" val="17566141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2026-10-26T08:31:52.3920000Z</dcterms:created>
  <dcterms:modified xsi:type="dcterms:W3CDTF">2026-10-26T08:31:52.3920000Z</dcterms:modified>
</coreProperties>
</file>