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4d5d997744433f" /><Relationship Type="http://schemas.openxmlformats.org/officeDocument/2006/relationships/extended-properties" Target="/docProps/app.xml" Id="R6037a55d505443be" /><Relationship Type="http://schemas.openxmlformats.org/officeDocument/2006/relationships/officeDocument" Target="/ppt/presentation.xml" Id="R451743d3b8cc43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1bdeb34d95461c"/>
  </p:sldMasterIdLst>
  <p:notesMasterIdLst>
    <p:notesMasterId xmlns:r="http://schemas.openxmlformats.org/officeDocument/2006/relationships" r:id="R36e6a25d40da470d"/>
  </p:notesMasterIdLst>
  <p:sldIdLst>
    <p:sldId xmlns:r="http://schemas.openxmlformats.org/officeDocument/2006/relationships" id="256" r:id="R2ef72fc70a564411"/>
    <p:sldId xmlns:r="http://schemas.openxmlformats.org/officeDocument/2006/relationships" id="257" r:id="R933b5d0dd8f34349"/>
    <p:sldId xmlns:r="http://schemas.openxmlformats.org/officeDocument/2006/relationships" id="258" r:id="Rb926a4f5edd5469e"/>
    <p:sldId xmlns:r="http://schemas.openxmlformats.org/officeDocument/2006/relationships" id="259" r:id="R0c18caf23bc64786"/>
    <p:sldId xmlns:r="http://schemas.openxmlformats.org/officeDocument/2006/relationships" id="260" r:id="R216db6e4969c499c"/>
    <p:sldId xmlns:r="http://schemas.openxmlformats.org/officeDocument/2006/relationships" id="261" r:id="R170449f5339a4d30"/>
    <p:sldId xmlns:r="http://schemas.openxmlformats.org/officeDocument/2006/relationships" id="262" r:id="R5349a1af3e3c4fe1"/>
    <p:sldId xmlns:r="http://schemas.openxmlformats.org/officeDocument/2006/relationships" id="263" r:id="Rc064018f38264490"/>
    <p:sldId xmlns:r="http://schemas.openxmlformats.org/officeDocument/2006/relationships" id="264" r:id="R7ddb8bf4f4bb4aca"/>
    <p:sldId xmlns:r="http://schemas.openxmlformats.org/officeDocument/2006/relationships" id="265" r:id="Rae36e359da324d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fe54c4ee34441b" /><Relationship Type="http://schemas.openxmlformats.org/officeDocument/2006/relationships/slideMaster" Target="/ppt/slideMasters/slideMaster1.xml" Id="Re21bdeb34d95461c" /><Relationship Type="http://schemas.openxmlformats.org/officeDocument/2006/relationships/notesMaster" Target="/ppt/notesMasters/notesMaster1.xml" Id="R36e6a25d40da470d" /><Relationship Type="http://schemas.openxmlformats.org/officeDocument/2006/relationships/presProps" Target="/ppt/presProps.xml" Id="R73c6ebf7ef034519" /><Relationship Type="http://schemas.openxmlformats.org/officeDocument/2006/relationships/tableStyles" Target="/ppt/tableStyles.xml" Id="R7b780c68bb174d14" /><Relationship Type="http://schemas.openxmlformats.org/officeDocument/2006/relationships/slide" Target="/ppt/slides/slide1.xml" Id="R2ef72fc70a564411" /><Relationship Type="http://schemas.openxmlformats.org/officeDocument/2006/relationships/slide" Target="/ppt/slides/slide2.xml" Id="R933b5d0dd8f34349" /><Relationship Type="http://schemas.openxmlformats.org/officeDocument/2006/relationships/slide" Target="/ppt/slides/slide3.xml" Id="Rb926a4f5edd5469e" /><Relationship Type="http://schemas.openxmlformats.org/officeDocument/2006/relationships/slide" Target="/ppt/slides/slide4.xml" Id="R0c18caf23bc64786" /><Relationship Type="http://schemas.openxmlformats.org/officeDocument/2006/relationships/slide" Target="/ppt/slides/slide5.xml" Id="R216db6e4969c499c" /><Relationship Type="http://schemas.openxmlformats.org/officeDocument/2006/relationships/slide" Target="/ppt/slides/slide6.xml" Id="R170449f5339a4d30" /><Relationship Type="http://schemas.openxmlformats.org/officeDocument/2006/relationships/slide" Target="/ppt/slides/slide7.xml" Id="R5349a1af3e3c4fe1" /><Relationship Type="http://schemas.openxmlformats.org/officeDocument/2006/relationships/slide" Target="/ppt/slides/slide8.xml" Id="Rc064018f38264490" /><Relationship Type="http://schemas.openxmlformats.org/officeDocument/2006/relationships/slide" Target="/ppt/slides/slide9.xml" Id="R7ddb8bf4f4bb4aca" /><Relationship Type="http://schemas.openxmlformats.org/officeDocument/2006/relationships/slide" Target="/ppt/slides/slide10.xml" Id="Rae36e359da324d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24c044bfc44f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265ad1a546484b" /><Relationship Type="http://schemas.openxmlformats.org/officeDocument/2006/relationships/notesMaster" Target="/ppt/notesMasters/notesMaster1.xml" Id="R5d6bb9a7c92f47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5b5a68778b4862" /><Relationship Type="http://schemas.openxmlformats.org/officeDocument/2006/relationships/notesMaster" Target="/ppt/notesMasters/notesMaster1.xml" Id="R6506d54cfddc41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efe04a3a814e5e" /><Relationship Type="http://schemas.openxmlformats.org/officeDocument/2006/relationships/notesMaster" Target="/ppt/notesMasters/notesMaster1.xml" Id="R5ffb3847cd7c40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498178a63244ff" /><Relationship Type="http://schemas.openxmlformats.org/officeDocument/2006/relationships/notesMaster" Target="/ppt/notesMasters/notesMaster1.xml" Id="Rb119fe57d8bc4e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0d3457fcec411d" /><Relationship Type="http://schemas.openxmlformats.org/officeDocument/2006/relationships/notesMaster" Target="/ppt/notesMasters/notesMaster1.xml" Id="R99b4991d325a44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68f09e47ce4188" /><Relationship Type="http://schemas.openxmlformats.org/officeDocument/2006/relationships/notesMaster" Target="/ppt/notesMasters/notesMaster1.xml" Id="Rfa4d3030ac9d45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86539c579d479c" /><Relationship Type="http://schemas.openxmlformats.org/officeDocument/2006/relationships/notesMaster" Target="/ppt/notesMasters/notesMaster1.xml" Id="Ra8cf307632fa42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4b86e2085e466e" /><Relationship Type="http://schemas.openxmlformats.org/officeDocument/2006/relationships/notesMaster" Target="/ppt/notesMasters/notesMaster1.xml" Id="R91cf802ab8ae42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8a07bc7c85499a" /><Relationship Type="http://schemas.openxmlformats.org/officeDocument/2006/relationships/notesMaster" Target="/ppt/notesMasters/notesMaster1.xml" Id="R220257f78dcf40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dd0166675845f5" /><Relationship Type="http://schemas.openxmlformats.org/officeDocument/2006/relationships/notesMaster" Target="/ppt/notesMasters/notesMaster1.xml" Id="Rd9df2d23d7fd45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 项目介绍</a:t>
            </a:r>
          </a:p>
          <a:p xmlns:a="http://schemas.openxmlformats.org/drawingml/2006/main">
            <a:r>
              <a:t>计划30秒，未经过现场实讲计时。</a:t>
            </a:r>
          </a:p>
          <a:p xmlns:a="http://schemas.openxmlformats.org/drawingml/2006/main">
            <a:r>
              <a:t>各位评委好，我们的项目是安心办 BankPilot，一款带资金约束的银行事务智能体。它帮助用户用自然语言组织转账、账单、理财等银行事务，同时把资金检查、用户授权和最终执行交给确定性服务。今天我们重点展示一个问题：当智能体开始处理资金事务，怎样让每一步都可以核对，并且在结果不确定时仍能查回原单。当前演示使用本地合成银行沙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证据来源：artifacts/submission/technical-design.md；V4 01-overview实际截图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 用户问题</a:t>
            </a:r>
          </a:p>
          <a:p xmlns:a="http://schemas.openxmlformats.org/drawingml/2006/main">
            <a:r>
              <a:t>计划45秒，未经过现场实讲计时。</a:t>
            </a:r>
          </a:p>
          <a:p xmlns:a="http://schemas.openxmlformats.org/drawingml/2006/main">
            <a:r>
              <a:t>我们把场景放在日常银行事务。一句给林晓转账，同时留足生活费，看起来很简单，实际包含对象识别、金额精度、现有资金和保护规则。用户真正需要的是能看清自己将要确认什么，而不是只收到一句已经办好。如果付款提交后超时，系统还要识别钱是否已经转出。把未知结果当作失败重新发起，可能造成重复付款。所以我们将这条指令拆为理解需求、资金预演、本人确认和回执四个可核对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证据来源：technical-design.md 第3节；V4场景参数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 产品交互</a:t>
            </a:r>
          </a:p>
          <a:p xmlns:a="http://schemas.openxmlformats.org/drawingml/2006/main">
            <a:r>
              <a:t>计划55秒，未经过现场实讲计时。</a:t>
            </a:r>
          </a:p>
          <a:p xmlns:a="http://schemas.openxmlformats.org/drawingml/2006/main">
            <a:r>
              <a:t>这是当前产品的实际界面。用户在工作台提出需求，系统把相关上下文交给总控，再调用需要的领域节点。右侧集中显示待确认动作，让用户先核对收款人、金额和风险，再看资金影响。独立复核检查结构是否完整、引用证据是否一致，必要时要求澄清。这里的关键边界是，模型输出和独立复核通过只表示提案可以继续，资金服务仍要重新核验。用户的聊天表达本身也不会直接变成付款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证据来源：technical-design.md 第2、3.1节；V4 03-prepared实际截图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 多Agent架构</a:t>
            </a:r>
          </a:p>
          <a:p xmlns:a="http://schemas.openxmlformats.org/drawingml/2006/main">
            <a:r>
              <a:t>计划65秒，未经过现场实讲计时。</a:t>
            </a:r>
          </a:p>
          <a:p xmlns:a="http://schemas.openxmlformats.org/drawingml/2006/main">
            <a:r>
              <a:t>架构由总控、六个领域 Agent 和独立复核组成，领域包括转账、账单、理财、卡片、订阅和生活目标。LangGraphJS根据请求按需调用相关领域，并不让所有 Agent 对每个问题都运行一遍。前端通过带会话的 Hono API访问服务。模型接收必要上下文，输出经过结构校验后进入持久化提案。独立复核之后，确定性服务重新检查用户归属、动作版本、权限和资金。授权、占额与 Outbox在数据库事务中登记，再由 Worker带着稳定请求身份派发给本地合成银行。图中的领域调度和资金执行是两层不同职责。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证据来源：technical-design.md 架构；packages/agents/src/index.ts；apps/api/src/main.ts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 资金与授权</a:t>
            </a:r>
          </a:p>
          <a:p xmlns:a="http://schemas.openxmlformats.org/drawingml/2006/main">
            <a:r>
              <a:t>计划65秒，未经过现场实讲计时。</a:t>
            </a:r>
          </a:p>
          <a:p xmlns:a="http://schemas.openxmlformats.org/drawingml/2006/main">
            <a:r>
              <a:t>资金算法使用整数分，避免小数精度误差。可用资金需要扣除已授权和未知结果的占额，并保护最低余额及未来三十天内到期或逾期的义务。预计收入不能提前当成现金。在示例中，当前余额八千元，保护五千元，三百元二角五分的付款可以在规则内准备。确认时，服务端在用户级数据库锁内重新计算风险和资金，执行前还会再次检查。当前转账代码按上海业务日累计金额分档，累计不超过一千元采用显式确认，超过则要求绑定当前动作的 Passkey强验证。这是一项内部实现策略，尚未核对为赛事官方金额门槛。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证据来源：technical-design.md 3.2；packages/core/src/finance.ts；V4 04-protection实际截图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 付款演示</a:t>
            </a:r>
          </a:p>
          <a:p xmlns:a="http://schemas.openxmlformats.org/drawingml/2006/main">
            <a:r>
              <a:t>计划55秒，未经过现场实讲计时。</a:t>
            </a:r>
          </a:p>
          <a:p xmlns:a="http://schemas.openxmlformats.org/drawingml/2006/main">
            <a:r>
              <a:t>这一页对应演示里的第一笔付款。系统先展示三百元二角五分的动作，用户再对当前动作显式确认。服务端校验通过后才创建授权并执行，余额从八千元变成七千六百九十九元七角五分。动作绑定用户、收款人、金额、版本和哈希，关键字段变化后，旧的确认不能继续使用。成功状态同时提供可追踪的回执。这里展示的是本地真实 API与数据库驱动的合成银行结果，演示里的模型处于受控条件，不能据此声称完成了完整云模型到真实银行付款。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证据来源：V4 05-paid实际截图；technical-design.md 3.2、3.3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第7页 未知结果恢复</a:t>
            </a:r>
          </a:p>
          <a:p xmlns:a="http://schemas.openxmlformats.org/drawingml/2006/main">
            <a:r>
              <a:t>计划65秒，未经过现场实讲计时。</a:t>
            </a:r>
          </a:p>
          <a:p xmlns:a="http://schemas.openxmlformats.org/drawingml/2006/main">
            <a:r>
              <a:t>第二笔付款是六百元，我们在合成银行设置提交成功后超时。此时钱可能已经转出，客户端却没有拿到完整回执，所以动作进入 UNKNOWN并保留占额。系统不会因为没收到结果就直接释放资金，也不会盲目再发一次付款。用户查询的是同一原请求，系统核对原单后恢复结果。最后余额为七千零九十九元七角五分，占额归零。这两笔付款在提供方仅有两笔交易。这个过程展示了资金链中对不确定结果的处理，但它属于本地合成沙箱验证，不能外推为真实银行的清算或生产故障恢复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证据来源：V4 06-unknown、07-recovered实际截图；technical-design.md 3.3；当前V4余额与提供方交易记录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第8页 证据状态</a:t>
            </a:r>
          </a:p>
          <a:p xmlns:a="http://schemas.openxmlformats.org/drawingml/2006/main">
            <a:r>
              <a:t>计划50秒，未经过现场实讲计时。</a:t>
            </a:r>
          </a:p>
          <a:p xmlns:a="http://schemas.openxmlformats.org/drawingml/2006/main">
            <a:r>
              <a:t>我们把验证结果按证据范围分别记录。二零二六年十月二十六日，指定模型完成固定的八个已知代表案例，八例业务断言通过，二十次模型请求均为 HTTP二百，零重试、零结构修复。这个集合覆盖六个领域正向例，以及拒绝产生动作和澄清两个边界。它属于已知回归，不能作为盲测泛化结论。另外，十月二十八日当前独立源码副本的一百三十五个测试文件、三千四百二十六项测试全部通过，类型检查、构建与测试库清理也通过。这是同一工作机上独立目录中的复验，接收方机器复现仍需单独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证据来源：docs/g9w-provider-revalidation.md；docs/evidence/2026-10-28-submission-source-verification.json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第9页 安全自评与边界</a:t>
            </a:r>
          </a:p>
          <a:p xmlns:a="http://schemas.openxmlformats.org/drawingml/2006/main">
            <a:r>
              <a:t>计划55秒，未经过现场实讲计时。</a:t>
            </a:r>
          </a:p>
          <a:p xmlns:a="http://schemas.openxmlformats.org/drawingml/2006/main">
            <a:r>
              <a:t>当前实现的控制点包括会话用户与动作归属、绑定动作的确认、资金重算、幂等和未知结果对账。我们仍保留几个明确边界。第一，模型已知回归和受控资金流程是独立证据，不能合并说完整云端资金链已经通过。第二，既有浏览器资金强验证使用虚拟 WebAuthn，实体 Passkey仍待验证。第三，账户、交易、回执和提供方都是合成数据，没有真实金融机构接入。第四，理财日期使用合成工作日历，没有覆盖法定节假日。接收方复现、生产部署、长期稳定性和外部安全测试也需要后续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证据来源：security-self-assessment.md；technical-design.md 当前验收状态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第10页 交付与下一步</a:t>
            </a:r>
          </a:p>
          <a:p xmlns:a="http://schemas.openxmlformats.org/drawingml/2006/main">
            <a:r>
              <a:t>计划45秒，未经过现场实讲计时。</a:t>
            </a:r>
          </a:p>
          <a:p xmlns:a="http://schemas.openxmlformats.org/drawingml/2006/main">
            <a:r>
              <a:t>安心办 BankPilot把银行事务分成能够解释的提案和需要本人确认的资金动作，并用确定性服务守住执行边界。当前提交材料包含源码、技术设计、安全自评、实际界面演示和答辩材料。配套 V4演示时长二分四十七点七七秒，使用实际截图剪辑，可以独立观看。接下来我们会优先补完整云模型资金链和接收方复现，并取得正式题面后逐项核对策略规则。我们的目标是让智能体在方便办理事务的同时，给用户留下清楚的决定权和可核对的结果。谢谢各位评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证据来源：technical-design.md；security-self-assessment.md；V4视频技术记录；https://github.com/1hb6s7t/BankPilot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f841808a942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0745df7034a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7a696802f42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fec48b1ca45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85c87fa1c4d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d68e302504d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DDBCB7-04C2-46F6-912E-AADD5509B0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7AD32A-98A0-4D1F-8833-8521118F17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3F4FC2-3F39-4617-BEB5-3AF459EB8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62160A-191E-4CE0-974E-2FAC6A2371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AFAF06B-8B7C-4F17-8C03-F2E4624521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6E9C85-58FE-4E22-8DF3-5E1146B0B0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7BF5C8-BB6A-4B30-A544-998E0F390E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C3E892-26D0-4273-98B5-93BB80A1AA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3FBCA4-7CB3-4D3D-AF88-7747885545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90BC78-8B4E-458D-BEBC-5E476DCFCB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68b20ae57e4692" /><Relationship Type="http://schemas.openxmlformats.org/officeDocument/2006/relationships/slideLayout" Target="/ppt/slideLayouts/slideLayout1.xml" Id="R7fd8744e6358418a" /><Relationship Type="http://schemas.openxmlformats.org/officeDocument/2006/relationships/slideLayout" Target="/ppt/slideLayouts/slideLayout2.xml" Id="R7f9f609c68174dbc" /><Relationship Type="http://schemas.openxmlformats.org/officeDocument/2006/relationships/slideLayout" Target="/ppt/slideLayouts/slideLayout3.xml" Id="R2a6af6df697b4ea1" /><Relationship Type="http://schemas.openxmlformats.org/officeDocument/2006/relationships/slideLayout" Target="/ppt/slideLayouts/slideLayout4.xml" Id="R357785c97d5e4cc9" /><Relationship Type="http://schemas.openxmlformats.org/officeDocument/2006/relationships/slideLayout" Target="/ppt/slideLayouts/slideLayout5.xml" Id="Re80de946e59e4905" /><Relationship Type="http://schemas.openxmlformats.org/officeDocument/2006/relationships/slideLayout" Target="/ppt/slideLayouts/slideLayout6.xml" Id="Rd70990a352b349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d8744e6358418a"/>
    <p:sldLayoutId xmlns:r="http://schemas.openxmlformats.org/officeDocument/2006/relationships" id="2147483650" r:id="R7f9f609c68174dbc"/>
    <p:sldLayoutId xmlns:r="http://schemas.openxmlformats.org/officeDocument/2006/relationships" id="2147483651" r:id="R2a6af6df697b4ea1"/>
    <p:sldLayoutId xmlns:r="http://schemas.openxmlformats.org/officeDocument/2006/relationships" id="2147483652" r:id="R357785c97d5e4cc9"/>
    <p:sldLayoutId xmlns:r="http://schemas.openxmlformats.org/officeDocument/2006/relationships" id="2147483653" r:id="Re80de946e59e4905"/>
    <p:sldLayoutId xmlns:r="http://schemas.openxmlformats.org/officeDocument/2006/relationships" id="2147483654" r:id="Rd70990a352b349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d0c4c13514883" /><Relationship Type="http://schemas.openxmlformats.org/officeDocument/2006/relationships/image" Target="/ppt/media/image.jpeg" Id="R3d972aab21704248" /><Relationship Type="http://schemas.openxmlformats.org/officeDocument/2006/relationships/notesSlide" Target="/ppt/notesSlides/notesSlide1.xml" Id="Ra14c6b47ff3849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d1044faa614b40" /><Relationship Type="http://schemas.openxmlformats.org/officeDocument/2006/relationships/notesSlide" Target="/ppt/notesSlides/notesSlide2.xml" Id="Rc60843014b0142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1d7f7c389143a8" /><Relationship Type="http://schemas.openxmlformats.org/officeDocument/2006/relationships/image" Target="/ppt/media/image2.jpeg" Id="Rd70f4c3828cb4bf0" /><Relationship Type="http://schemas.openxmlformats.org/officeDocument/2006/relationships/notesSlide" Target="/ppt/notesSlides/notesSlide3.xml" Id="R9b3f3bd5900e42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d03f3c132746de" /><Relationship Type="http://schemas.openxmlformats.org/officeDocument/2006/relationships/notesSlide" Target="/ppt/notesSlides/notesSlide4.xml" Id="R11bcda04055542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43ab4de4684f55" /><Relationship Type="http://schemas.openxmlformats.org/officeDocument/2006/relationships/image" Target="/ppt/media/image3.jpeg" Id="R623d2ad31b4d44ad" /><Relationship Type="http://schemas.openxmlformats.org/officeDocument/2006/relationships/notesSlide" Target="/ppt/notesSlides/notesSlide5.xml" Id="R2782c6160a4c4c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66ef47f4744cdd" /><Relationship Type="http://schemas.openxmlformats.org/officeDocument/2006/relationships/image" Target="/ppt/media/image4.jpeg" Id="R8642ebe91f0540f0" /><Relationship Type="http://schemas.openxmlformats.org/officeDocument/2006/relationships/notesSlide" Target="/ppt/notesSlides/notesSlide6.xml" Id="Rc3663f39c79c47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90be3db7ec44b8" /><Relationship Type="http://schemas.openxmlformats.org/officeDocument/2006/relationships/image" Target="/ppt/media/image5.jpeg" Id="R9659d443affc45f5" /><Relationship Type="http://schemas.openxmlformats.org/officeDocument/2006/relationships/notesSlide" Target="/ppt/notesSlides/notesSlide7.xml" Id="Rce7cc9a449764a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0cdfb1ca3a4e6e" /><Relationship Type="http://schemas.openxmlformats.org/officeDocument/2006/relationships/notesSlide" Target="/ppt/notesSlides/notesSlide8.xml" Id="R4695a9c6787446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7a4f1ddd494548" /><Relationship Type="http://schemas.openxmlformats.org/officeDocument/2006/relationships/notesSlide" Target="/ppt/notesSlides/notesSlide9.xml" Id="Raf762ec002f54b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89e2c91614dc8" /><Relationship Type="http://schemas.openxmlformats.org/officeDocument/2006/relationships/notesSlide" Target="/ppt/notesSlides/notesSlide10.xml" Id="R7a37e3c8fef146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72A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A7B09-60C4-4BC5-90B5-C0286B7A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7B398-982A-453F-8429-2A853696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1A47E-700F-44E3-9750-B32843B6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9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9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9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9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9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9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9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9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9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9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rPr>
              <a:t>安心办 BankPilot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B1B8A-3BBB-412A-B983-460AE53B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3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3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3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3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3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3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3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3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3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3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rPr>
              <a:t>带资金约束的</a:t>
            </a:r>
          </a:p>
          <a:p xmlns:a="http://schemas.openxmlformats.org/drawingml/2006/main">
            <a:pPr>
              <a:defRPr sz="33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rPr>
              <a:t>银行事务智能体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FDEBB-F957-4AFC-A641-2F2C1C04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rPr>
              <a:t>自然语言提出需求</a:t>
            </a:r>
          </a:p>
          <a:p xmlns:a="http://schemas.openxmlformats.org/drawingml/2006/main">
            <a: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rPr>
              <a:t>本人确认后执行资金动作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E703E-68AF-4355-874D-421DC3AE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500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500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500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500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500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500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500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500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500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rPr>
              <a:t>本地合成银行沙箱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E9AF2-619E-4893-B919-20D6C10D3D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72aab21704248"/>
          <a:stretch xmlns:a="http://schemas.openxmlformats.org/drawingml/2006/main"/>
        </p:blipFill>
        <p:spPr>
          <a:xfrm xmlns:a="http://schemas.openxmlformats.org/drawingml/2006/main">
            <a:off x="6286500" y="1642550"/>
            <a:ext cx="5334000" cy="338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71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AA46E-A71C-4CCD-9290-DF69E0A9B4C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86800" y="38481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57293-20AE-4D18-80DA-01796D905BD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91200" y="38481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6B656-314C-46F7-BA76-B502B1C6254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95600" y="38481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FB91D-C4A4-4304-8CCD-C87DA73F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一条银行指令包含多项约束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10E02-80B1-407B-AA1F-D52A035A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981AE-71FA-475B-9571-6DEB1C57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9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9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9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9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9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9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9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9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9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9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“给林晓转 300.25 元，</a:t>
            </a:r>
          </a:p>
          <a:p xmlns:a="http://schemas.openxmlformats.org/drawingml/2006/main">
            <a:pPr>
              <a:defRPr sz="29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同时为近期生活留出 5,000 元。”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15401-0251-4562-A801-2437D83E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1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识别对象与金额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51809-FDDA-4C19-9F51-4DDFEB88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1947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1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核算资金影响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3C32F-A586-4766-AB44-990BD596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1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本人核对并确认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52BCD-5543-453D-BC1F-0F735AEC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19475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A33A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执行与回执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3BADF-4BC7-4073-870C-B846B660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71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系统需要回答：收款人是否明确？可用现金是否足够？授权是否仍然有效？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CE168-B9D5-4928-BD75-3BE47805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遇到超时，还要区分“未执行”和“已执行但回执未返回”。</a:t>
            </a:r>
          </a:p>
        </p:txBody>
      </p:sp>
    </p:spTree>
    <p:extLst>
      <p:ext uri="{BB962C8B-B14F-4D97-AF65-F5344CB8AC3E}">
        <p14:creationId xmlns:p14="http://schemas.microsoft.com/office/powerpoint/2010/main" val="407801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351D3-AFE3-402B-8ADD-D64CE3BD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从自然语言到可核对的提案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999B1-C08E-4866-9BD5-0A8FD558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F4BDD-6170-49A2-8C0C-656C4898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一句话描述需求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42A08-F859-431A-B3A2-9D94D90A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总控按需安排相关领域，</a:t>
            </a:r>
          </a:p>
          <a:p xmlns:a="http://schemas.openxmlformats.org/drawingml/2006/main">
            <a: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返回结构化动作。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E45BD-0A0D-47C4-931D-54A8AD3B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9CE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34B98-E3FE-4187-A915-320D2541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收款人、金额、风险与资金</a:t>
            </a:r>
          </a:p>
          <a:p xmlns:a="http://schemas.openxmlformats.org/drawingml/2006/main">
            <a: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影响在确认前集中展示。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A3F03-A664-47F3-9153-F7A7ECDB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提案与独立复核均不产生资金授权。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C26B3-7E1B-41A5-8DA4-94C0746963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f4c3828cb4bf0"/>
          <a:stretch xmlns:a="http://schemas.openxmlformats.org/drawingml/2006/main"/>
        </p:blipFill>
        <p:spPr>
          <a:xfrm xmlns:a="http://schemas.openxmlformats.org/drawingml/2006/main">
            <a:off x="4703757" y="1381125"/>
            <a:ext cx="6308736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422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A75F2E-C012-47B3-8E66-DA19EDE9CBE0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934200" y="4695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A24A94-FF1B-42C3-918B-5D162BBA40CA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895600" y="46958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0D2321-AA50-41D5-BDF8-948B657C243C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1752600" y="3533775"/>
            <a:ext cx="881062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090936-4E21-4610-AF3A-961C127297E9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1752600" y="3533775"/>
            <a:ext cx="698182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307694-A95E-4228-8134-D61A7C3037E2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1752600" y="3533775"/>
            <a:ext cx="515302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52811E-DE06-4DC1-8288-5566F012C8F7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1752600" y="3533775"/>
            <a:ext cx="332422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59365B-53F3-4F81-B721-3CE97B452732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1752600" y="3533775"/>
            <a:ext cx="149542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798729-02E8-4CE2-A348-A6FB2AF83E19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419225" y="3533775"/>
            <a:ext cx="33337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29D1F-AFBB-4A33-9BC6-38E913EB0FA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7810500" y="2143125"/>
            <a:ext cx="2752725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3B5D6-05B7-44A5-8328-1FD839E0BB3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810500" y="2143125"/>
            <a:ext cx="923925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BFB45-1D4A-4DC0-A2B8-9597B36F02B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6905625" y="2143125"/>
            <a:ext cx="904875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1BF72-8181-446E-B67E-95B93AE2829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5076825" y="2143125"/>
            <a:ext cx="2733675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9D35F-7D14-4058-861D-796C25C4A17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3248025" y="2143125"/>
            <a:ext cx="4562475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00792-FE12-49D3-9223-893767D805E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419225" y="2143125"/>
            <a:ext cx="6391275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FE2D1-1F11-41F7-B492-8F7F4F7D3F6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62600" y="18097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2FB30-185C-4029-8B18-53ABBEF52C5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05100" y="1809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B96528-9D3B-4329-A861-B7B84723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总控、六领域与独立复核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E307D-C46B-4A38-AC8F-84F44438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AD405-75CE-4514-B958-5C536594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1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React 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B6114-F663-42A4-8F2E-7F676734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47637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1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Hono API / 会话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9A0B1-7DBA-418F-903F-F19DA43E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A33A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总控路由 LangGraphJS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B7614-F698-4A42-B2AB-50B12095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1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转账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8EE58-5C05-4048-A1EF-E4C95DB5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05125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1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账单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59C42-4A5D-4005-8B17-ED74F7FF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1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理财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671DD-8A45-4A61-B922-1D02318C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1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卡片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4338E-0F71-41F1-8E49-2A6E783E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05125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1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订阅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EC520-A2B7-4154-ACBA-E11B64F6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05125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1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生活目标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F71BCB-7A6F-4280-8C2A-14209ADF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1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独立复核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52C28-33D1-40F8-9D3F-330E10D4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33875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A33A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确定性资金与授权服务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A7CD84-05CC-4390-8C72-3984C610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33875"/>
            <a:ext cx="377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1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PostgreSQL / Outbox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D77B0B-90AD-4DEB-9236-2F7704E1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按需调用相关领域。Worker 使用稳定请求身份访问本地合成银行适配器。</a:t>
            </a:r>
          </a:p>
        </p:txBody>
      </p:sp>
    </p:spTree>
    <p:extLst>
      <p:ext uri="{BB962C8B-B14F-4D97-AF65-F5344CB8AC3E}">
        <p14:creationId xmlns:p14="http://schemas.microsoft.com/office/powerpoint/2010/main" val="748138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04071-B09E-4DCB-A2C0-4BBA4022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资金与授权在服务端重新核算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EF09F-A5A7-4AE2-9FE4-E8FF966A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3FC6D-E5B4-4E15-850D-C99AF1ED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42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42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42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42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42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42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42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42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42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42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8,000.00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EF87B-41F1-430D-B165-26805A7D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当前余额（元）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B65A4-BFDD-4949-B3A9-97EDE1AC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4290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9CE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E672F-DA16-4701-AF4F-054FB170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619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保护资金  5,000.00 元</a:t>
            </a:r>
          </a:p>
          <a:p xmlns:a="http://schemas.openxmlformats.org/drawingml/2006/main">
            <a: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本次转账     300.25 元</a:t>
            </a:r>
          </a:p>
          <a:p xmlns:a="http://schemas.openxmlformats.org/drawingml/2006/main">
            <a: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转账后余额  7,699.75 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60FDC-7961-4ED7-AE09-4297EE92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金额以整数分计算。未来收入不计入当前现金。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5BFBB-800B-43FC-ABA7-FCCC645112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d2ad31b4d44ad"/>
          <a:stretch xmlns:a="http://schemas.openxmlformats.org/drawingml/2006/main"/>
        </p:blipFill>
        <p:spPr>
          <a:xfrm xmlns:a="http://schemas.openxmlformats.org/drawingml/2006/main">
            <a:off x="4831292" y="1438275"/>
            <a:ext cx="6434667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3374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892E3-EB93-4D96-B625-4D838666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确认当前动作后生成付款回执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9033B-7121-4FE3-B930-DD9C898B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36914-1D44-4055-AA81-D1918322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6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6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6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6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6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6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6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6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6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6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300.25 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6BA68-DA1C-4261-99C0-18EECBFA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本人显式确认</a:t>
            </a:r>
          </a:p>
          <a:p xmlns:a="http://schemas.openxmlformats.org/drawingml/2006/main">
            <a: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服务端校验后执行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21C17-8DEB-4576-BD2B-F8703386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9CE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4EE2C-30DF-4C30-865A-BB562486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余额</a:t>
            </a:r>
          </a:p>
          <a:p xmlns:a="http://schemas.openxmlformats.org/drawingml/2006/main">
            <a:pPr>
              <a:def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8,000.00 → 7,699.75 元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7566E-C7E6-4AB3-B54A-52D0597274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42ebe91f0540f0"/>
          <a:stretch xmlns:a="http://schemas.openxmlformats.org/drawingml/2006/main"/>
        </p:blipFill>
        <p:spPr>
          <a:xfrm xmlns:a="http://schemas.openxmlformats.org/drawingml/2006/main">
            <a:off x="5147218" y="1362075"/>
            <a:ext cx="5764714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ED141-8750-483A-A991-40568C8B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V4实际截图剪辑：本地真实 API、合成银行、受控模型。</a:t>
            </a:r>
          </a:p>
        </p:txBody>
      </p:sp>
    </p:spTree>
    <p:extLst>
      <p:ext uri="{BB962C8B-B14F-4D97-AF65-F5344CB8AC3E}">
        <p14:creationId xmlns:p14="http://schemas.microsoft.com/office/powerpoint/2010/main" val="1174256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D5894-8A79-4B33-9FA2-028A9A57B3DF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2228850" y="344805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574C3-E550-4466-8875-9660DC01D118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228850" y="2200275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716C"/>
            </a:solidFill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366FF-E3AA-4B5C-AE6A-648DDEB6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超时后保留占额，查询同一原单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36864-ED15-4EE7-BADD-9002F39B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56611-BE55-4DDD-837E-324F83D5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323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1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提交 600 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F0F35-8CF1-4411-A0B1-B5BC2D32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23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A33A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UNKNOWN / 保留占额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DC8C4-3DEC-470D-A540-320C260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1"/>
          </a:solidFill>
          <a:ln xmlns:a="http://schemas.openxmlformats.org/drawingml/2006/main" w="11430">
            <a:solidFill>
              <a:srgbClr val="66716C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查原单恢复回执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2DFAD-F511-463C-9F3A-852635D2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最终余额 7,099.75 元</a:t>
            </a:r>
          </a:p>
          <a:p xmlns:a="http://schemas.openxmlformats.org/drawingml/2006/main">
            <a: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最终占额 0 元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CBA77-4069-4BB1-90B2-2E36BDD194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9d443affc45f5"/>
          <a:stretch xmlns:a="http://schemas.openxmlformats.org/drawingml/2006/main"/>
        </p:blipFill>
        <p:spPr>
          <a:xfrm xmlns:a="http://schemas.openxmlformats.org/drawingml/2006/main">
            <a:off x="5219094" y="1381125"/>
            <a:ext cx="5506663" cy="3905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7807B-47DA-4E7F-A6BD-88047217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81650"/>
            <a:ext cx="719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两笔付款共 2 笔提供方交易，查单恢复不新增付款。</a:t>
            </a:r>
          </a:p>
        </p:txBody>
      </p:sp>
    </p:spTree>
    <p:extLst>
      <p:ext uri="{BB962C8B-B14F-4D97-AF65-F5344CB8AC3E}">
        <p14:creationId xmlns:p14="http://schemas.microsoft.com/office/powerpoint/2010/main" val="16251036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386E5-DF02-4EC2-B673-82204CC5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已有验证证据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8CD88-F231-4ED4-9684-9ABB445D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7B003-AEE7-4830-B20E-6A693B4A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64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64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64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64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64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64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64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64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64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64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64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45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8 /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D82D0-7585-4D02-8CDB-74575A43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固定已知代表模型回归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3F05B-6EBD-46ED-875B-23FA223C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4857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10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10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10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10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10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10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10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10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10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20 次请求 HTTP 200</a:t>
            </a:r>
          </a:p>
          <a:p xmlns:a="http://schemas.openxmlformats.org/drawingml/2006/main">
            <a:pPr>
              <a:defRPr sz="210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零重试、零结构修复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D1C47-625B-41EC-AE02-7BC8A989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859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135 个测试文件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2D68F-537F-4607-8EAD-5843081A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3,426 项测试通过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0861D-AA0C-42FC-815C-37B1AB46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2026-10-28 独立源码副本</a:t>
            </a:r>
          </a:p>
          <a:p xmlns:a="http://schemas.openxmlformats.org/drawingml/2006/main">
            <a:pPr>
              <a:def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类型检查、构建与清理通过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58201-EC94-41B3-A3C9-4F4795CB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9CE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31A74-C8CE-48ED-9491-AA728B67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模型结果来自已知输入集。源码副本与测试结论有对应日期和版本。</a:t>
            </a:r>
          </a:p>
        </p:txBody>
      </p:sp>
    </p:spTree>
    <p:extLst>
      <p:ext uri="{BB962C8B-B14F-4D97-AF65-F5344CB8AC3E}">
        <p14:creationId xmlns:p14="http://schemas.microsoft.com/office/powerpoint/2010/main" val="40495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3E872-0A7F-4888-8F0E-8691C8DD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验证范围与已知风险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386B9-1D3F-4B73-97B8-3B022177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AEFC4-4E6B-4E4B-B49F-CD6943AE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当前可说明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837CD-4FD6-4CA0-B314-1757843E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144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仍需验证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5A8AA-10A1-4EA0-B39C-A5FA0DFA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857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FA33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E5FE3-5445-42D0-83E8-26C1BC3E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857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EFA3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9BA8A-F8FE-4EA7-B67D-089ED698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会话用户与动作归属校验</a:t>
            </a:r>
          </a:p>
          <a:p xmlns:a="http://schemas.openxmlformats.org/drawingml/2006/main">
            <a: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动作哈希、版本与一次性授权</a:t>
            </a:r>
          </a:p>
          <a:p xmlns:a="http://schemas.openxmlformats.org/drawingml/2006/main">
            <a: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资金保护、幂等与原单对账</a:t>
            </a:r>
          </a:p>
          <a:p xmlns:a="http://schemas.openxmlformats.org/drawingml/2006/main">
            <a: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合成银行中的实际状态流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1E83A-D000-4049-BCF5-222C3CCE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完整云模型资金执行链</a:t>
            </a:r>
          </a:p>
          <a:p xmlns:a="http://schemas.openxmlformats.org/drawingml/2006/main">
            <a: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真正未见输入与长期稳定性</a:t>
            </a:r>
          </a:p>
          <a:p xmlns:a="http://schemas.openxmlformats.org/drawingml/2006/main">
            <a: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实体 Passkey 与真实金融接入</a:t>
            </a:r>
          </a:p>
          <a:p xmlns:a="http://schemas.openxmlformats.org/drawingml/2006/main">
            <a:pPr>
              <a:def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72A29"/>
                </a:solidFill>
                <a:latin typeface="Arial Unicode MS"/>
                <a:ea typeface="Arial Unicode MS"/>
                <a:cs typeface="Arial Unicode MS"/>
              </a:rPr>
              <a:t>接收方复现、生产安全与日历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16D03-D929-48B9-BDF8-4B3F9E0B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6716C"/>
                </a:solidFill>
                <a:latin typeface="Arial Unicode MS"/>
                <a:ea typeface="Arial Unicode MS"/>
                <a:cs typeface="Arial Unicode MS"/>
              </a:rPr>
              <a:t>已知模型回归、受控资金流程与自动化测试是不同范围的证据。</a:t>
            </a:r>
          </a:p>
        </p:txBody>
      </p:sp>
    </p:spTree>
    <p:extLst>
      <p:ext uri="{BB962C8B-B14F-4D97-AF65-F5344CB8AC3E}">
        <p14:creationId xmlns:p14="http://schemas.microsoft.com/office/powerpoint/2010/main" val="7131401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72A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B20AA-13AB-486B-B833-25C0B188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rPr>
              <a:t>当前交付与下一步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FB387-9294-42D2-9E89-15C54B21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B7BCB7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3AF10-E4EA-47BE-AE11-CEFAC28A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322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322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322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322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322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322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322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322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322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rPr>
              <a:t>银行事务可以逐步核对，</a:t>
            </a:r>
          </a:p>
          <a:p xmlns:a="http://schemas.openxmlformats.org/drawingml/2006/main">
            <a:pPr>
              <a:defRPr sz="322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rPr>
              <a:t>资金动作由本人确认。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68947-EEFE-4E78-907A-7DC192FE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rPr>
              <a:t>当前交付：源码、技术与安全说明、演示视频、答辩材料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1FB4D-63D5-4AB9-AF83-EEA4AE07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81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6F6F1"/>
                </a:solidFill>
                <a:latin typeface="Arial Unicode MS"/>
                <a:ea typeface="Arial Unicode MS"/>
                <a:cs typeface="Arial Unicode MS"/>
              </a:rPr>
              <a:t>下一步：补完整云模型资金链，记录接收方复现，核对正式题面规则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FB9DC-0049-4DDA-A16E-5F68A861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53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66716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BC9ED-45AA-4AE3-9BF8-F8F68145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725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725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725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725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725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725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725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725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725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FA33A"/>
                </a:solidFill>
                <a:latin typeface="Arial Unicode MS"/>
                <a:ea typeface="Arial Unicode MS"/>
                <a:cs typeface="Arial Unicode MS"/>
              </a:rPr>
              <a:t>源码仓库  github.com/1hb6s7t/BankPilot</a:t>
            </a:r>
          </a:p>
        </p:txBody>
      </p:sp>
    </p:spTree>
    <p:extLst>
      <p:ext uri="{BB962C8B-B14F-4D97-AF65-F5344CB8AC3E}">
        <p14:creationId xmlns:p14="http://schemas.microsoft.com/office/powerpoint/2010/main" val="2123209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2026-10-28T08:23:11.6940000Z</dcterms:created>
  <dcterms:modified xsi:type="dcterms:W3CDTF">2026-10-28T08:23:11.6940000Z</dcterms:modified>
</coreProperties>
</file>